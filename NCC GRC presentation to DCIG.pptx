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84" r:id="rId3"/>
    <p:sldId id="257" r:id="rId4"/>
    <p:sldId id="258" r:id="rId5"/>
    <p:sldId id="303" r:id="rId6"/>
    <p:sldId id="309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2" r:id="rId15"/>
    <p:sldId id="305" r:id="rId16"/>
    <p:sldId id="306" r:id="rId17"/>
    <p:sldId id="307" r:id="rId18"/>
    <p:sldId id="322" r:id="rId19"/>
    <p:sldId id="312" r:id="rId20"/>
    <p:sldId id="313" r:id="rId21"/>
    <p:sldId id="314" r:id="rId22"/>
    <p:sldId id="315" r:id="rId23"/>
    <p:sldId id="311" r:id="rId24"/>
    <p:sldId id="316" r:id="rId25"/>
    <p:sldId id="317" r:id="rId26"/>
    <p:sldId id="318" r:id="rId27"/>
    <p:sldId id="321" r:id="rId28"/>
    <p:sldId id="328" r:id="rId29"/>
    <p:sldId id="324" r:id="rId30"/>
    <p:sldId id="323" r:id="rId31"/>
    <p:sldId id="325" r:id="rId32"/>
    <p:sldId id="327" r:id="rId33"/>
    <p:sldId id="261" r:id="rId34"/>
    <p:sldId id="263" r:id="rId35"/>
    <p:sldId id="262" r:id="rId36"/>
    <p:sldId id="285" r:id="rId37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65"/>
    <p:restoredTop sz="94610"/>
  </p:normalViewPr>
  <p:slideViewPr>
    <p:cSldViewPr snapToGrid="0">
      <p:cViewPr varScale="1">
        <p:scale>
          <a:sx n="88" d="100"/>
          <a:sy n="88" d="100"/>
        </p:scale>
        <p:origin x="20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zeem DURODOYE PhD" userId="4cbb6b1aa510c325" providerId="LiveId" clId="{968A7E64-1CC4-55CD-B398-DC9A6F58CEDB}"/>
    <pc:docChg chg="undo custSel modSld">
      <pc:chgData name="Kazeem DURODOYE PhD" userId="4cbb6b1aa510c325" providerId="LiveId" clId="{968A7E64-1CC4-55CD-B398-DC9A6F58CEDB}" dt="2026-06-04T10:06:42.579" v="82" actId="20577"/>
      <pc:docMkLst>
        <pc:docMk/>
      </pc:docMkLst>
      <pc:sldChg chg="modSp mod">
        <pc:chgData name="Kazeem DURODOYE PhD" userId="4cbb6b1aa510c325" providerId="LiveId" clId="{968A7E64-1CC4-55CD-B398-DC9A6F58CEDB}" dt="2026-06-04T10:04:49.563" v="81" actId="20577"/>
        <pc:sldMkLst>
          <pc:docMk/>
          <pc:sldMk cId="4280852248" sldId="295"/>
        </pc:sldMkLst>
        <pc:spChg chg="mod">
          <ac:chgData name="Kazeem DURODOYE PhD" userId="4cbb6b1aa510c325" providerId="LiveId" clId="{968A7E64-1CC4-55CD-B398-DC9A6F58CEDB}" dt="2026-06-04T10:04:49.563" v="81" actId="20577"/>
          <ac:spMkLst>
            <pc:docMk/>
            <pc:sldMk cId="4280852248" sldId="295"/>
            <ac:spMk id="3" creationId="{A014F77E-ED51-56AC-BBE8-0354B0F462BB}"/>
          </ac:spMkLst>
        </pc:spChg>
      </pc:sldChg>
      <pc:sldChg chg="modSp mod">
        <pc:chgData name="Kazeem DURODOYE PhD" userId="4cbb6b1aa510c325" providerId="LiveId" clId="{968A7E64-1CC4-55CD-B398-DC9A6F58CEDB}" dt="2026-06-04T10:06:42.579" v="82" actId="20577"/>
        <pc:sldMkLst>
          <pc:docMk/>
          <pc:sldMk cId="3280472024" sldId="305"/>
        </pc:sldMkLst>
        <pc:spChg chg="mod">
          <ac:chgData name="Kazeem DURODOYE PhD" userId="4cbb6b1aa510c325" providerId="LiveId" clId="{968A7E64-1CC4-55CD-B398-DC9A6F58CEDB}" dt="2026-06-04T10:06:42.579" v="82" actId="20577"/>
          <ac:spMkLst>
            <pc:docMk/>
            <pc:sldMk cId="3280472024" sldId="305"/>
            <ac:spMk id="3" creationId="{06C0A50E-483B-3D8C-D06A-F4A1D6D888E5}"/>
          </ac:spMkLst>
        </pc:spChg>
      </pc:sldChg>
      <pc:sldChg chg="modSp mod">
        <pc:chgData name="Kazeem DURODOYE PhD" userId="4cbb6b1aa510c325" providerId="LiveId" clId="{968A7E64-1CC4-55CD-B398-DC9A6F58CEDB}" dt="2026-06-04T09:52:47.271" v="80" actId="20577"/>
        <pc:sldMkLst>
          <pc:docMk/>
          <pc:sldMk cId="844389136" sldId="309"/>
        </pc:sldMkLst>
        <pc:spChg chg="mod">
          <ac:chgData name="Kazeem DURODOYE PhD" userId="4cbb6b1aa510c325" providerId="LiveId" clId="{968A7E64-1CC4-55CD-B398-DC9A6F58CEDB}" dt="2026-06-04T09:52:47.271" v="80" actId="20577"/>
          <ac:spMkLst>
            <pc:docMk/>
            <pc:sldMk cId="844389136" sldId="309"/>
            <ac:spMk id="3" creationId="{4A9DE2D5-4CA4-E581-A0AF-D19A50C99111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A4652-930E-4CCA-9156-0E2222EAFA1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EE7835E-8AF5-4001-BE24-035A5E5E27B2}">
      <dgm:prSet/>
      <dgm:spPr/>
      <dgm:t>
        <a:bodyPr/>
        <a:lstStyle/>
        <a:p>
          <a:r>
            <a:rPr lang="en-US" b="1" dirty="0"/>
            <a:t>Objectives and goals of the GRC platform</a:t>
          </a:r>
          <a:endParaRPr lang="en-US" dirty="0"/>
        </a:p>
      </dgm:t>
    </dgm:pt>
    <dgm:pt modelId="{1DAA17B9-D853-42C7-8CA7-AB0669B5AC24}" type="parTrans" cxnId="{8CFFB624-9ED5-4717-A40D-55EBC8AF3D16}">
      <dgm:prSet/>
      <dgm:spPr/>
      <dgm:t>
        <a:bodyPr/>
        <a:lstStyle/>
        <a:p>
          <a:endParaRPr lang="en-US"/>
        </a:p>
      </dgm:t>
    </dgm:pt>
    <dgm:pt modelId="{1936634F-6877-486F-86AD-8BFAEB4C0AED}" type="sibTrans" cxnId="{8CFFB624-9ED5-4717-A40D-55EBC8AF3D16}">
      <dgm:prSet/>
      <dgm:spPr/>
      <dgm:t>
        <a:bodyPr/>
        <a:lstStyle/>
        <a:p>
          <a:endParaRPr lang="en-US"/>
        </a:p>
      </dgm:t>
    </dgm:pt>
    <dgm:pt modelId="{507C5C4C-BB1B-4A89-AC90-A304299E1630}">
      <dgm:prSet/>
      <dgm:spPr/>
      <dgm:t>
        <a:bodyPr/>
        <a:lstStyle/>
        <a:p>
          <a:r>
            <a:rPr lang="en-US" b="1" dirty="0"/>
            <a:t>Summary of the Key Features &amp; Modules</a:t>
          </a:r>
          <a:endParaRPr lang="en-US" dirty="0"/>
        </a:p>
      </dgm:t>
    </dgm:pt>
    <dgm:pt modelId="{6A9F176F-7900-48B3-900D-F3C1F2C908AE}" type="parTrans" cxnId="{8A334C2E-722C-44D9-954D-FA35E138FC2A}">
      <dgm:prSet/>
      <dgm:spPr/>
      <dgm:t>
        <a:bodyPr/>
        <a:lstStyle/>
        <a:p>
          <a:endParaRPr lang="en-US"/>
        </a:p>
      </dgm:t>
    </dgm:pt>
    <dgm:pt modelId="{09156D41-2064-4B7E-9F20-5E9DC1DB8F47}" type="sibTrans" cxnId="{8A334C2E-722C-44D9-954D-FA35E138FC2A}">
      <dgm:prSet/>
      <dgm:spPr/>
      <dgm:t>
        <a:bodyPr/>
        <a:lstStyle/>
        <a:p>
          <a:endParaRPr lang="en-US"/>
        </a:p>
      </dgm:t>
    </dgm:pt>
    <dgm:pt modelId="{B3948E87-450E-4994-9BF7-FA6658E8F145}">
      <dgm:prSet/>
      <dgm:spPr/>
      <dgm:t>
        <a:bodyPr/>
        <a:lstStyle/>
        <a:p>
          <a:r>
            <a:rPr lang="en-US" b="1" dirty="0"/>
            <a:t>GRC Wireframe Architecture</a:t>
          </a:r>
          <a:endParaRPr lang="en-US" dirty="0"/>
        </a:p>
      </dgm:t>
    </dgm:pt>
    <dgm:pt modelId="{DFAFF1FE-C32D-4EEC-BA23-478D3D65DAD5}" type="parTrans" cxnId="{05D45F91-8A3B-40F3-A911-8947CC121E86}">
      <dgm:prSet/>
      <dgm:spPr/>
      <dgm:t>
        <a:bodyPr/>
        <a:lstStyle/>
        <a:p>
          <a:endParaRPr lang="en-US"/>
        </a:p>
      </dgm:t>
    </dgm:pt>
    <dgm:pt modelId="{CB595349-D2D7-4F50-800F-FA2B37904968}" type="sibTrans" cxnId="{05D45F91-8A3B-40F3-A911-8947CC121E86}">
      <dgm:prSet/>
      <dgm:spPr/>
      <dgm:t>
        <a:bodyPr/>
        <a:lstStyle/>
        <a:p>
          <a:endParaRPr lang="en-US"/>
        </a:p>
      </dgm:t>
    </dgm:pt>
    <dgm:pt modelId="{CC22FB7F-A798-4BCC-A32A-15940BC9FB1B}">
      <dgm:prSet/>
      <dgm:spPr/>
      <dgm:t>
        <a:bodyPr/>
        <a:lstStyle/>
        <a:p>
          <a:r>
            <a:rPr lang="en-US" b="1" dirty="0"/>
            <a:t>Mock Views of the GRC Platform</a:t>
          </a:r>
          <a:endParaRPr lang="en-US" dirty="0"/>
        </a:p>
      </dgm:t>
    </dgm:pt>
    <dgm:pt modelId="{0B79C525-1E76-4781-A0AB-0D6FCC8F8C86}" type="parTrans" cxnId="{BAAB7280-6D5D-440D-86CB-FB2F6BEC99E4}">
      <dgm:prSet/>
      <dgm:spPr/>
      <dgm:t>
        <a:bodyPr/>
        <a:lstStyle/>
        <a:p>
          <a:endParaRPr lang="en-US"/>
        </a:p>
      </dgm:t>
    </dgm:pt>
    <dgm:pt modelId="{A438D275-546A-4828-96DE-DB44BE7844B4}" type="sibTrans" cxnId="{BAAB7280-6D5D-440D-86CB-FB2F6BEC99E4}">
      <dgm:prSet/>
      <dgm:spPr/>
      <dgm:t>
        <a:bodyPr/>
        <a:lstStyle/>
        <a:p>
          <a:endParaRPr lang="en-US"/>
        </a:p>
      </dgm:t>
    </dgm:pt>
    <dgm:pt modelId="{6A3D699F-D5ED-4A4B-B14B-812DEEF958E9}">
      <dgm:prSet/>
      <dgm:spPr/>
      <dgm:t>
        <a:bodyPr/>
        <a:lstStyle/>
        <a:p>
          <a:r>
            <a:rPr lang="en-US" b="1" dirty="0"/>
            <a:t>Key Considerations </a:t>
          </a:r>
          <a:endParaRPr lang="en-US" dirty="0"/>
        </a:p>
      </dgm:t>
    </dgm:pt>
    <dgm:pt modelId="{5A68D54F-C348-4930-825B-C09BB651EDD5}" type="parTrans" cxnId="{73F3F489-E2B9-4088-836D-87AACC5B5132}">
      <dgm:prSet/>
      <dgm:spPr/>
      <dgm:t>
        <a:bodyPr/>
        <a:lstStyle/>
        <a:p>
          <a:endParaRPr lang="en-US"/>
        </a:p>
      </dgm:t>
    </dgm:pt>
    <dgm:pt modelId="{42E92799-57B9-4A10-80AA-7EA73C569A46}" type="sibTrans" cxnId="{73F3F489-E2B9-4088-836D-87AACC5B5132}">
      <dgm:prSet/>
      <dgm:spPr/>
      <dgm:t>
        <a:bodyPr/>
        <a:lstStyle/>
        <a:p>
          <a:endParaRPr lang="en-US"/>
        </a:p>
      </dgm:t>
    </dgm:pt>
    <dgm:pt modelId="{C8F7B217-AB58-4A9A-9F26-5041E8061AE7}">
      <dgm:prSet/>
      <dgm:spPr/>
      <dgm:t>
        <a:bodyPr/>
        <a:lstStyle/>
        <a:p>
          <a:r>
            <a:rPr lang="en-US" b="1"/>
            <a:t>Implementation Details</a:t>
          </a:r>
          <a:endParaRPr lang="en-US"/>
        </a:p>
      </dgm:t>
    </dgm:pt>
    <dgm:pt modelId="{C881CC69-09E0-4F0F-A1A8-2857D3FB93E5}" type="parTrans" cxnId="{FFCDBE4E-A99A-4EF8-9EC6-AABA56FFEF90}">
      <dgm:prSet/>
      <dgm:spPr/>
      <dgm:t>
        <a:bodyPr/>
        <a:lstStyle/>
        <a:p>
          <a:endParaRPr lang="en-US"/>
        </a:p>
      </dgm:t>
    </dgm:pt>
    <dgm:pt modelId="{67AD4E0B-EEF2-4127-8217-50D6C2F79485}" type="sibTrans" cxnId="{FFCDBE4E-A99A-4EF8-9EC6-AABA56FFEF90}">
      <dgm:prSet/>
      <dgm:spPr/>
      <dgm:t>
        <a:bodyPr/>
        <a:lstStyle/>
        <a:p>
          <a:endParaRPr lang="en-US"/>
        </a:p>
      </dgm:t>
    </dgm:pt>
    <dgm:pt modelId="{78AFE55C-3AD2-7C45-93F6-6EECD367D61B}" type="pres">
      <dgm:prSet presAssocID="{7C2A4652-930E-4CCA-9156-0E2222EAFA15}" presName="Name0" presStyleCnt="0">
        <dgm:presLayoutVars>
          <dgm:dir/>
          <dgm:resizeHandles val="exact"/>
        </dgm:presLayoutVars>
      </dgm:prSet>
      <dgm:spPr/>
    </dgm:pt>
    <dgm:pt modelId="{6F14F5A5-42BE-B949-8656-75CCCCD5445A}" type="pres">
      <dgm:prSet presAssocID="{5EE7835E-8AF5-4001-BE24-035A5E5E27B2}" presName="node" presStyleLbl="node1" presStyleIdx="0" presStyleCnt="6">
        <dgm:presLayoutVars>
          <dgm:bulletEnabled val="1"/>
        </dgm:presLayoutVars>
      </dgm:prSet>
      <dgm:spPr/>
    </dgm:pt>
    <dgm:pt modelId="{567EA551-5B62-0242-8B81-FD06B0F06BA8}" type="pres">
      <dgm:prSet presAssocID="{1936634F-6877-486F-86AD-8BFAEB4C0AED}" presName="sibTrans" presStyleLbl="sibTrans1D1" presStyleIdx="0" presStyleCnt="5"/>
      <dgm:spPr/>
    </dgm:pt>
    <dgm:pt modelId="{CBB9A92D-7D44-0C40-8C5B-184AA98CE5F9}" type="pres">
      <dgm:prSet presAssocID="{1936634F-6877-486F-86AD-8BFAEB4C0AED}" presName="connectorText" presStyleLbl="sibTrans1D1" presStyleIdx="0" presStyleCnt="5"/>
      <dgm:spPr/>
    </dgm:pt>
    <dgm:pt modelId="{22B1F039-0017-A546-968D-EE4D345142D0}" type="pres">
      <dgm:prSet presAssocID="{507C5C4C-BB1B-4A89-AC90-A304299E1630}" presName="node" presStyleLbl="node1" presStyleIdx="1" presStyleCnt="6">
        <dgm:presLayoutVars>
          <dgm:bulletEnabled val="1"/>
        </dgm:presLayoutVars>
      </dgm:prSet>
      <dgm:spPr/>
    </dgm:pt>
    <dgm:pt modelId="{1558A902-2D78-2144-9FAA-62744DCC298E}" type="pres">
      <dgm:prSet presAssocID="{09156D41-2064-4B7E-9F20-5E9DC1DB8F47}" presName="sibTrans" presStyleLbl="sibTrans1D1" presStyleIdx="1" presStyleCnt="5"/>
      <dgm:spPr/>
    </dgm:pt>
    <dgm:pt modelId="{242AFCAD-6659-2940-81D5-7A894366E0CA}" type="pres">
      <dgm:prSet presAssocID="{09156D41-2064-4B7E-9F20-5E9DC1DB8F47}" presName="connectorText" presStyleLbl="sibTrans1D1" presStyleIdx="1" presStyleCnt="5"/>
      <dgm:spPr/>
    </dgm:pt>
    <dgm:pt modelId="{67B83251-8BB9-9A40-8F7D-CEC6A0051333}" type="pres">
      <dgm:prSet presAssocID="{B3948E87-450E-4994-9BF7-FA6658E8F145}" presName="node" presStyleLbl="node1" presStyleIdx="2" presStyleCnt="6">
        <dgm:presLayoutVars>
          <dgm:bulletEnabled val="1"/>
        </dgm:presLayoutVars>
      </dgm:prSet>
      <dgm:spPr/>
    </dgm:pt>
    <dgm:pt modelId="{F6845D86-A0F2-5C48-99B8-89D83A2E249E}" type="pres">
      <dgm:prSet presAssocID="{CB595349-D2D7-4F50-800F-FA2B37904968}" presName="sibTrans" presStyleLbl="sibTrans1D1" presStyleIdx="2" presStyleCnt="5"/>
      <dgm:spPr/>
    </dgm:pt>
    <dgm:pt modelId="{F4AC2380-8259-4844-B200-C9A08A2E5D99}" type="pres">
      <dgm:prSet presAssocID="{CB595349-D2D7-4F50-800F-FA2B37904968}" presName="connectorText" presStyleLbl="sibTrans1D1" presStyleIdx="2" presStyleCnt="5"/>
      <dgm:spPr/>
    </dgm:pt>
    <dgm:pt modelId="{435B56FF-FC47-1144-B94F-2F0103C43673}" type="pres">
      <dgm:prSet presAssocID="{CC22FB7F-A798-4BCC-A32A-15940BC9FB1B}" presName="node" presStyleLbl="node1" presStyleIdx="3" presStyleCnt="6">
        <dgm:presLayoutVars>
          <dgm:bulletEnabled val="1"/>
        </dgm:presLayoutVars>
      </dgm:prSet>
      <dgm:spPr/>
    </dgm:pt>
    <dgm:pt modelId="{C1A1BC24-C898-D84C-B9EC-66016EDB7FE5}" type="pres">
      <dgm:prSet presAssocID="{A438D275-546A-4828-96DE-DB44BE7844B4}" presName="sibTrans" presStyleLbl="sibTrans1D1" presStyleIdx="3" presStyleCnt="5"/>
      <dgm:spPr/>
    </dgm:pt>
    <dgm:pt modelId="{78864FA4-B9A2-5F4F-8A3D-99C9CD413747}" type="pres">
      <dgm:prSet presAssocID="{A438D275-546A-4828-96DE-DB44BE7844B4}" presName="connectorText" presStyleLbl="sibTrans1D1" presStyleIdx="3" presStyleCnt="5"/>
      <dgm:spPr/>
    </dgm:pt>
    <dgm:pt modelId="{ACE828AA-BB41-4648-B446-8D1A87E79A7E}" type="pres">
      <dgm:prSet presAssocID="{6A3D699F-D5ED-4A4B-B14B-812DEEF958E9}" presName="node" presStyleLbl="node1" presStyleIdx="4" presStyleCnt="6">
        <dgm:presLayoutVars>
          <dgm:bulletEnabled val="1"/>
        </dgm:presLayoutVars>
      </dgm:prSet>
      <dgm:spPr/>
    </dgm:pt>
    <dgm:pt modelId="{39A6EAB9-4622-794D-AFB0-A2554FD135AD}" type="pres">
      <dgm:prSet presAssocID="{42E92799-57B9-4A10-80AA-7EA73C569A46}" presName="sibTrans" presStyleLbl="sibTrans1D1" presStyleIdx="4" presStyleCnt="5"/>
      <dgm:spPr/>
    </dgm:pt>
    <dgm:pt modelId="{4D75348C-3690-4F4D-9A60-FBF2E390A007}" type="pres">
      <dgm:prSet presAssocID="{42E92799-57B9-4A10-80AA-7EA73C569A46}" presName="connectorText" presStyleLbl="sibTrans1D1" presStyleIdx="4" presStyleCnt="5"/>
      <dgm:spPr/>
    </dgm:pt>
    <dgm:pt modelId="{9E88EFC7-DE0B-5A44-A989-D10A262172C8}" type="pres">
      <dgm:prSet presAssocID="{C8F7B217-AB58-4A9A-9F26-5041E8061AE7}" presName="node" presStyleLbl="node1" presStyleIdx="5" presStyleCnt="6">
        <dgm:presLayoutVars>
          <dgm:bulletEnabled val="1"/>
        </dgm:presLayoutVars>
      </dgm:prSet>
      <dgm:spPr/>
    </dgm:pt>
  </dgm:ptLst>
  <dgm:cxnLst>
    <dgm:cxn modelId="{AD337B08-42A3-3A48-81A1-35C2B7FEA1C7}" type="presOf" srcId="{CB595349-D2D7-4F50-800F-FA2B37904968}" destId="{F6845D86-A0F2-5C48-99B8-89D83A2E249E}" srcOrd="0" destOrd="0" presId="urn:microsoft.com/office/officeart/2016/7/layout/RepeatingBendingProcessNew"/>
    <dgm:cxn modelId="{C5B23611-C690-A54F-84F5-5CDDA7D43A8C}" type="presOf" srcId="{CC22FB7F-A798-4BCC-A32A-15940BC9FB1B}" destId="{435B56FF-FC47-1144-B94F-2F0103C43673}" srcOrd="0" destOrd="0" presId="urn:microsoft.com/office/officeart/2016/7/layout/RepeatingBendingProcessNew"/>
    <dgm:cxn modelId="{8CFFB624-9ED5-4717-A40D-55EBC8AF3D16}" srcId="{7C2A4652-930E-4CCA-9156-0E2222EAFA15}" destId="{5EE7835E-8AF5-4001-BE24-035A5E5E27B2}" srcOrd="0" destOrd="0" parTransId="{1DAA17B9-D853-42C7-8CA7-AB0669B5AC24}" sibTransId="{1936634F-6877-486F-86AD-8BFAEB4C0AED}"/>
    <dgm:cxn modelId="{8A334C2E-722C-44D9-954D-FA35E138FC2A}" srcId="{7C2A4652-930E-4CCA-9156-0E2222EAFA15}" destId="{507C5C4C-BB1B-4A89-AC90-A304299E1630}" srcOrd="1" destOrd="0" parTransId="{6A9F176F-7900-48B3-900D-F3C1F2C908AE}" sibTransId="{09156D41-2064-4B7E-9F20-5E9DC1DB8F47}"/>
    <dgm:cxn modelId="{0A28C848-4EB2-064E-B12D-56E22C86295F}" type="presOf" srcId="{1936634F-6877-486F-86AD-8BFAEB4C0AED}" destId="{CBB9A92D-7D44-0C40-8C5B-184AA98CE5F9}" srcOrd="1" destOrd="0" presId="urn:microsoft.com/office/officeart/2016/7/layout/RepeatingBendingProcessNew"/>
    <dgm:cxn modelId="{FFCDBE4E-A99A-4EF8-9EC6-AABA56FFEF90}" srcId="{7C2A4652-930E-4CCA-9156-0E2222EAFA15}" destId="{C8F7B217-AB58-4A9A-9F26-5041E8061AE7}" srcOrd="5" destOrd="0" parTransId="{C881CC69-09E0-4F0F-A1A8-2857D3FB93E5}" sibTransId="{67AD4E0B-EEF2-4127-8217-50D6C2F79485}"/>
    <dgm:cxn modelId="{1E7E4E50-DCD2-EB4E-9C17-A45A21E446BE}" type="presOf" srcId="{C8F7B217-AB58-4A9A-9F26-5041E8061AE7}" destId="{9E88EFC7-DE0B-5A44-A989-D10A262172C8}" srcOrd="0" destOrd="0" presId="urn:microsoft.com/office/officeart/2016/7/layout/RepeatingBendingProcessNew"/>
    <dgm:cxn modelId="{68C9AB5D-CD66-B242-BB6D-B97A78E34C5B}" type="presOf" srcId="{B3948E87-450E-4994-9BF7-FA6658E8F145}" destId="{67B83251-8BB9-9A40-8F7D-CEC6A0051333}" srcOrd="0" destOrd="0" presId="urn:microsoft.com/office/officeart/2016/7/layout/RepeatingBendingProcessNew"/>
    <dgm:cxn modelId="{8268B665-11A1-6E43-95A3-0870B5B2911A}" type="presOf" srcId="{09156D41-2064-4B7E-9F20-5E9DC1DB8F47}" destId="{1558A902-2D78-2144-9FAA-62744DCC298E}" srcOrd="0" destOrd="0" presId="urn:microsoft.com/office/officeart/2016/7/layout/RepeatingBendingProcessNew"/>
    <dgm:cxn modelId="{D0BB4D6B-301F-3F42-B15A-4BB105815AF0}" type="presOf" srcId="{A438D275-546A-4828-96DE-DB44BE7844B4}" destId="{C1A1BC24-C898-D84C-B9EC-66016EDB7FE5}" srcOrd="0" destOrd="0" presId="urn:microsoft.com/office/officeart/2016/7/layout/RepeatingBendingProcessNew"/>
    <dgm:cxn modelId="{BAAB7280-6D5D-440D-86CB-FB2F6BEC99E4}" srcId="{7C2A4652-930E-4CCA-9156-0E2222EAFA15}" destId="{CC22FB7F-A798-4BCC-A32A-15940BC9FB1B}" srcOrd="3" destOrd="0" parTransId="{0B79C525-1E76-4781-A0AB-0D6FCC8F8C86}" sibTransId="{A438D275-546A-4828-96DE-DB44BE7844B4}"/>
    <dgm:cxn modelId="{73F3F489-E2B9-4088-836D-87AACC5B5132}" srcId="{7C2A4652-930E-4CCA-9156-0E2222EAFA15}" destId="{6A3D699F-D5ED-4A4B-B14B-812DEEF958E9}" srcOrd="4" destOrd="0" parTransId="{5A68D54F-C348-4930-825B-C09BB651EDD5}" sibTransId="{42E92799-57B9-4A10-80AA-7EA73C569A46}"/>
    <dgm:cxn modelId="{3971CB8C-E817-774D-8F85-1DB6876F9B63}" type="presOf" srcId="{5EE7835E-8AF5-4001-BE24-035A5E5E27B2}" destId="{6F14F5A5-42BE-B949-8656-75CCCCD5445A}" srcOrd="0" destOrd="0" presId="urn:microsoft.com/office/officeart/2016/7/layout/RepeatingBendingProcessNew"/>
    <dgm:cxn modelId="{024F6E8F-276E-4E48-9BF1-4D0E387301AB}" type="presOf" srcId="{507C5C4C-BB1B-4A89-AC90-A304299E1630}" destId="{22B1F039-0017-A546-968D-EE4D345142D0}" srcOrd="0" destOrd="0" presId="urn:microsoft.com/office/officeart/2016/7/layout/RepeatingBendingProcessNew"/>
    <dgm:cxn modelId="{05D45F91-8A3B-40F3-A911-8947CC121E86}" srcId="{7C2A4652-930E-4CCA-9156-0E2222EAFA15}" destId="{B3948E87-450E-4994-9BF7-FA6658E8F145}" srcOrd="2" destOrd="0" parTransId="{DFAFF1FE-C32D-4EEC-BA23-478D3D65DAD5}" sibTransId="{CB595349-D2D7-4F50-800F-FA2B37904968}"/>
    <dgm:cxn modelId="{0B8DF699-E4C0-A04D-8392-B658FCD20334}" type="presOf" srcId="{6A3D699F-D5ED-4A4B-B14B-812DEEF958E9}" destId="{ACE828AA-BB41-4648-B446-8D1A87E79A7E}" srcOrd="0" destOrd="0" presId="urn:microsoft.com/office/officeart/2016/7/layout/RepeatingBendingProcessNew"/>
    <dgm:cxn modelId="{AB822EA8-9E69-B94E-8731-6C55FA189422}" type="presOf" srcId="{CB595349-D2D7-4F50-800F-FA2B37904968}" destId="{F4AC2380-8259-4844-B200-C9A08A2E5D99}" srcOrd="1" destOrd="0" presId="urn:microsoft.com/office/officeart/2016/7/layout/RepeatingBendingProcessNew"/>
    <dgm:cxn modelId="{4D9CE5B7-C95A-EB49-8E1E-DC3485851D40}" type="presOf" srcId="{1936634F-6877-486F-86AD-8BFAEB4C0AED}" destId="{567EA551-5B62-0242-8B81-FD06B0F06BA8}" srcOrd="0" destOrd="0" presId="urn:microsoft.com/office/officeart/2016/7/layout/RepeatingBendingProcessNew"/>
    <dgm:cxn modelId="{0085F4D9-F34F-EF43-8D5B-17CEA175B8B5}" type="presOf" srcId="{42E92799-57B9-4A10-80AA-7EA73C569A46}" destId="{39A6EAB9-4622-794D-AFB0-A2554FD135AD}" srcOrd="0" destOrd="0" presId="urn:microsoft.com/office/officeart/2016/7/layout/RepeatingBendingProcessNew"/>
    <dgm:cxn modelId="{BA8CE1DE-D248-7245-85EE-84814FD791B6}" type="presOf" srcId="{42E92799-57B9-4A10-80AA-7EA73C569A46}" destId="{4D75348C-3690-4F4D-9A60-FBF2E390A007}" srcOrd="1" destOrd="0" presId="urn:microsoft.com/office/officeart/2016/7/layout/RepeatingBendingProcessNew"/>
    <dgm:cxn modelId="{0BEB67E3-CD00-044D-8E13-B2B835B96741}" type="presOf" srcId="{A438D275-546A-4828-96DE-DB44BE7844B4}" destId="{78864FA4-B9A2-5F4F-8A3D-99C9CD413747}" srcOrd="1" destOrd="0" presId="urn:microsoft.com/office/officeart/2016/7/layout/RepeatingBendingProcessNew"/>
    <dgm:cxn modelId="{A07C27E4-CB83-BC4E-A148-4FB120B84463}" type="presOf" srcId="{7C2A4652-930E-4CCA-9156-0E2222EAFA15}" destId="{78AFE55C-3AD2-7C45-93F6-6EECD367D61B}" srcOrd="0" destOrd="0" presId="urn:microsoft.com/office/officeart/2016/7/layout/RepeatingBendingProcessNew"/>
    <dgm:cxn modelId="{C1F92FFD-72AA-F448-AD89-77D43290EA0D}" type="presOf" srcId="{09156D41-2064-4B7E-9F20-5E9DC1DB8F47}" destId="{242AFCAD-6659-2940-81D5-7A894366E0CA}" srcOrd="1" destOrd="0" presId="urn:microsoft.com/office/officeart/2016/7/layout/RepeatingBendingProcessNew"/>
    <dgm:cxn modelId="{424442C5-503F-574A-BA64-B3E9C89FD196}" type="presParOf" srcId="{78AFE55C-3AD2-7C45-93F6-6EECD367D61B}" destId="{6F14F5A5-42BE-B949-8656-75CCCCD5445A}" srcOrd="0" destOrd="0" presId="urn:microsoft.com/office/officeart/2016/7/layout/RepeatingBendingProcessNew"/>
    <dgm:cxn modelId="{48722E62-13C0-5A4B-87DC-727CEA402385}" type="presParOf" srcId="{78AFE55C-3AD2-7C45-93F6-6EECD367D61B}" destId="{567EA551-5B62-0242-8B81-FD06B0F06BA8}" srcOrd="1" destOrd="0" presId="urn:microsoft.com/office/officeart/2016/7/layout/RepeatingBendingProcessNew"/>
    <dgm:cxn modelId="{9F369762-A3FB-D140-AFD7-92FCC4A9D7FB}" type="presParOf" srcId="{567EA551-5B62-0242-8B81-FD06B0F06BA8}" destId="{CBB9A92D-7D44-0C40-8C5B-184AA98CE5F9}" srcOrd="0" destOrd="0" presId="urn:microsoft.com/office/officeart/2016/7/layout/RepeatingBendingProcessNew"/>
    <dgm:cxn modelId="{C24848DF-391A-8643-8E69-C024B9FE0D5B}" type="presParOf" srcId="{78AFE55C-3AD2-7C45-93F6-6EECD367D61B}" destId="{22B1F039-0017-A546-968D-EE4D345142D0}" srcOrd="2" destOrd="0" presId="urn:microsoft.com/office/officeart/2016/7/layout/RepeatingBendingProcessNew"/>
    <dgm:cxn modelId="{7E7B9929-0C70-4D48-8967-2D690AB3D582}" type="presParOf" srcId="{78AFE55C-3AD2-7C45-93F6-6EECD367D61B}" destId="{1558A902-2D78-2144-9FAA-62744DCC298E}" srcOrd="3" destOrd="0" presId="urn:microsoft.com/office/officeart/2016/7/layout/RepeatingBendingProcessNew"/>
    <dgm:cxn modelId="{5A656BB9-5E13-D043-8942-60F623E33AA0}" type="presParOf" srcId="{1558A902-2D78-2144-9FAA-62744DCC298E}" destId="{242AFCAD-6659-2940-81D5-7A894366E0CA}" srcOrd="0" destOrd="0" presId="urn:microsoft.com/office/officeart/2016/7/layout/RepeatingBendingProcessNew"/>
    <dgm:cxn modelId="{B2BEE95E-3976-1F4A-9421-EF7420FB5967}" type="presParOf" srcId="{78AFE55C-3AD2-7C45-93F6-6EECD367D61B}" destId="{67B83251-8BB9-9A40-8F7D-CEC6A0051333}" srcOrd="4" destOrd="0" presId="urn:microsoft.com/office/officeart/2016/7/layout/RepeatingBendingProcessNew"/>
    <dgm:cxn modelId="{07974505-1B4A-144B-90CE-08266E462103}" type="presParOf" srcId="{78AFE55C-3AD2-7C45-93F6-6EECD367D61B}" destId="{F6845D86-A0F2-5C48-99B8-89D83A2E249E}" srcOrd="5" destOrd="0" presId="urn:microsoft.com/office/officeart/2016/7/layout/RepeatingBendingProcessNew"/>
    <dgm:cxn modelId="{D4A26585-12DD-B644-B0FA-C10066E43F8B}" type="presParOf" srcId="{F6845D86-A0F2-5C48-99B8-89D83A2E249E}" destId="{F4AC2380-8259-4844-B200-C9A08A2E5D99}" srcOrd="0" destOrd="0" presId="urn:microsoft.com/office/officeart/2016/7/layout/RepeatingBendingProcessNew"/>
    <dgm:cxn modelId="{3935F23C-CBF2-3B4A-973A-4757DF3CBAAD}" type="presParOf" srcId="{78AFE55C-3AD2-7C45-93F6-6EECD367D61B}" destId="{435B56FF-FC47-1144-B94F-2F0103C43673}" srcOrd="6" destOrd="0" presId="urn:microsoft.com/office/officeart/2016/7/layout/RepeatingBendingProcessNew"/>
    <dgm:cxn modelId="{D5F87FB4-CFF8-8A40-8304-8EB32504412D}" type="presParOf" srcId="{78AFE55C-3AD2-7C45-93F6-6EECD367D61B}" destId="{C1A1BC24-C898-D84C-B9EC-66016EDB7FE5}" srcOrd="7" destOrd="0" presId="urn:microsoft.com/office/officeart/2016/7/layout/RepeatingBendingProcessNew"/>
    <dgm:cxn modelId="{E89E972A-3571-914B-A93E-848C1C859267}" type="presParOf" srcId="{C1A1BC24-C898-D84C-B9EC-66016EDB7FE5}" destId="{78864FA4-B9A2-5F4F-8A3D-99C9CD413747}" srcOrd="0" destOrd="0" presId="urn:microsoft.com/office/officeart/2016/7/layout/RepeatingBendingProcessNew"/>
    <dgm:cxn modelId="{A0C1C4F3-3AB3-5A43-AD72-D982AE5D2380}" type="presParOf" srcId="{78AFE55C-3AD2-7C45-93F6-6EECD367D61B}" destId="{ACE828AA-BB41-4648-B446-8D1A87E79A7E}" srcOrd="8" destOrd="0" presId="urn:microsoft.com/office/officeart/2016/7/layout/RepeatingBendingProcessNew"/>
    <dgm:cxn modelId="{F4A77204-9535-6D4A-8EF8-8BA586FAE4A6}" type="presParOf" srcId="{78AFE55C-3AD2-7C45-93F6-6EECD367D61B}" destId="{39A6EAB9-4622-794D-AFB0-A2554FD135AD}" srcOrd="9" destOrd="0" presId="urn:microsoft.com/office/officeart/2016/7/layout/RepeatingBendingProcessNew"/>
    <dgm:cxn modelId="{6030E20F-8856-E54B-AB21-78EC942F1CA9}" type="presParOf" srcId="{39A6EAB9-4622-794D-AFB0-A2554FD135AD}" destId="{4D75348C-3690-4F4D-9A60-FBF2E390A007}" srcOrd="0" destOrd="0" presId="urn:microsoft.com/office/officeart/2016/7/layout/RepeatingBendingProcessNew"/>
    <dgm:cxn modelId="{24FF6FF1-823C-6B49-92A5-E2D8A2BF1308}" type="presParOf" srcId="{78AFE55C-3AD2-7C45-93F6-6EECD367D61B}" destId="{9E88EFC7-DE0B-5A44-A989-D10A262172C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43DA05-0079-4C85-8E78-7CB0D6501F0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0262432-944D-40BC-B406-46B1E43398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Proactive measures </a:t>
          </a:r>
          <a:r>
            <a:rPr lang="en-US"/>
            <a:t>cover various aspects from governance to risk management, cybersecurity awareness, and the numerous cybersecurity measures to protect the service providers’ IT and OT assets. </a:t>
          </a:r>
        </a:p>
      </dgm:t>
    </dgm:pt>
    <dgm:pt modelId="{9A7A6CD0-0DA0-4AA7-9A5D-39039440163A}" type="parTrans" cxnId="{5A0BBA29-5C89-4C0C-8DE7-9F1189DFAFC9}">
      <dgm:prSet/>
      <dgm:spPr/>
      <dgm:t>
        <a:bodyPr/>
        <a:lstStyle/>
        <a:p>
          <a:endParaRPr lang="en-US"/>
        </a:p>
      </dgm:t>
    </dgm:pt>
    <dgm:pt modelId="{9C7552C9-1DF1-49A5-9123-FB7847331B5A}" type="sibTrans" cxnId="{5A0BBA29-5C89-4C0C-8DE7-9F1189DFAFC9}">
      <dgm:prSet/>
      <dgm:spPr/>
      <dgm:t>
        <a:bodyPr/>
        <a:lstStyle/>
        <a:p>
          <a:endParaRPr lang="en-US"/>
        </a:p>
      </dgm:t>
    </dgm:pt>
    <dgm:pt modelId="{203D9CF3-0C1E-4D94-986E-F557467D646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Cyber resilience (reactive) </a:t>
          </a:r>
          <a:r>
            <a:rPr lang="en-US"/>
            <a:t>measures include the ability to detect, respond to, and recover from cybersecurity incidents. </a:t>
          </a:r>
        </a:p>
      </dgm:t>
    </dgm:pt>
    <dgm:pt modelId="{315BB10E-3C71-4D50-B11E-FF88034545D2}" type="parTrans" cxnId="{E1A4C6E1-33C5-4EE5-86A8-D0B684F428D0}">
      <dgm:prSet/>
      <dgm:spPr/>
      <dgm:t>
        <a:bodyPr/>
        <a:lstStyle/>
        <a:p>
          <a:endParaRPr lang="en-US"/>
        </a:p>
      </dgm:t>
    </dgm:pt>
    <dgm:pt modelId="{7B8465B2-5308-4FF1-A673-89A34EBD5480}" type="sibTrans" cxnId="{E1A4C6E1-33C5-4EE5-86A8-D0B684F428D0}">
      <dgm:prSet/>
      <dgm:spPr/>
      <dgm:t>
        <a:bodyPr/>
        <a:lstStyle/>
        <a:p>
          <a:endParaRPr lang="en-US"/>
        </a:p>
      </dgm:t>
    </dgm:pt>
    <dgm:pt modelId="{AA7F629A-D866-4BC0-8507-A54BEE8005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Uniform Implementation</a:t>
          </a:r>
          <a:r>
            <a:rPr lang="en-US" dirty="0"/>
            <a:t>: The framework also specifies guidelines to ensure standards are implemented in a uniform manner</a:t>
          </a:r>
          <a:r>
            <a:rPr lang="en-NG" dirty="0"/>
            <a:t> </a:t>
          </a:r>
          <a:endParaRPr lang="en-US" dirty="0"/>
        </a:p>
      </dgm:t>
    </dgm:pt>
    <dgm:pt modelId="{D1F95BBA-77EB-4A51-A532-E24CD4716C86}" type="parTrans" cxnId="{B8CB253B-CDBE-4662-A21A-3AF564ABF120}">
      <dgm:prSet/>
      <dgm:spPr/>
      <dgm:t>
        <a:bodyPr/>
        <a:lstStyle/>
        <a:p>
          <a:endParaRPr lang="en-US"/>
        </a:p>
      </dgm:t>
    </dgm:pt>
    <dgm:pt modelId="{031B80FE-AD7A-4332-9803-FEBDA9D0DA78}" type="sibTrans" cxnId="{B8CB253B-CDBE-4662-A21A-3AF564ABF120}">
      <dgm:prSet/>
      <dgm:spPr/>
      <dgm:t>
        <a:bodyPr/>
        <a:lstStyle/>
        <a:p>
          <a:endParaRPr lang="en-US"/>
        </a:p>
      </dgm:t>
    </dgm:pt>
    <dgm:pt modelId="{37D9EF44-0FF0-4BFE-AC7E-28D4A6C7DC8B}" type="pres">
      <dgm:prSet presAssocID="{3343DA05-0079-4C85-8E78-7CB0D6501F00}" presName="root" presStyleCnt="0">
        <dgm:presLayoutVars>
          <dgm:dir/>
          <dgm:resizeHandles val="exact"/>
        </dgm:presLayoutVars>
      </dgm:prSet>
      <dgm:spPr/>
    </dgm:pt>
    <dgm:pt modelId="{E99C9685-0AFC-4274-81F0-FB531E8A8B51}" type="pres">
      <dgm:prSet presAssocID="{C0262432-944D-40BC-B406-46B1E433984F}" presName="compNode" presStyleCnt="0"/>
      <dgm:spPr/>
    </dgm:pt>
    <dgm:pt modelId="{B9FF4564-8CF8-4317-A351-3A471FA7F4F2}" type="pres">
      <dgm:prSet presAssocID="{C0262432-944D-40BC-B406-46B1E433984F}" presName="bgRect" presStyleLbl="bgShp" presStyleIdx="0" presStyleCnt="3"/>
      <dgm:spPr/>
    </dgm:pt>
    <dgm:pt modelId="{E27DC773-9CB2-4901-94EB-9FAECC1A8440}" type="pres">
      <dgm:prSet presAssocID="{C0262432-944D-40BC-B406-46B1E433984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9493620D-5A2D-41C8-9AB0-1BB1468A68B9}" type="pres">
      <dgm:prSet presAssocID="{C0262432-944D-40BC-B406-46B1E433984F}" presName="spaceRect" presStyleCnt="0"/>
      <dgm:spPr/>
    </dgm:pt>
    <dgm:pt modelId="{5F111C5F-4109-45A1-83F5-E694C5836FE6}" type="pres">
      <dgm:prSet presAssocID="{C0262432-944D-40BC-B406-46B1E433984F}" presName="parTx" presStyleLbl="revTx" presStyleIdx="0" presStyleCnt="3">
        <dgm:presLayoutVars>
          <dgm:chMax val="0"/>
          <dgm:chPref val="0"/>
        </dgm:presLayoutVars>
      </dgm:prSet>
      <dgm:spPr/>
    </dgm:pt>
    <dgm:pt modelId="{55AA494B-1B0A-4809-8E82-A58124548F63}" type="pres">
      <dgm:prSet presAssocID="{9C7552C9-1DF1-49A5-9123-FB7847331B5A}" presName="sibTrans" presStyleCnt="0"/>
      <dgm:spPr/>
    </dgm:pt>
    <dgm:pt modelId="{9253E29D-AB6C-4AD2-9770-2E43EA770846}" type="pres">
      <dgm:prSet presAssocID="{203D9CF3-0C1E-4D94-986E-F557467D646C}" presName="compNode" presStyleCnt="0"/>
      <dgm:spPr/>
    </dgm:pt>
    <dgm:pt modelId="{9270151E-9F4B-4F7E-9510-6D3087F27EAB}" type="pres">
      <dgm:prSet presAssocID="{203D9CF3-0C1E-4D94-986E-F557467D646C}" presName="bgRect" presStyleLbl="bgShp" presStyleIdx="1" presStyleCnt="3"/>
      <dgm:spPr/>
    </dgm:pt>
    <dgm:pt modelId="{DE4C4613-0091-4714-BF8D-3AACF06F64A2}" type="pres">
      <dgm:prSet presAssocID="{203D9CF3-0C1E-4D94-986E-F557467D646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9D5F77-C1EE-42A2-BE4B-CA96E5C01256}" type="pres">
      <dgm:prSet presAssocID="{203D9CF3-0C1E-4D94-986E-F557467D646C}" presName="spaceRect" presStyleCnt="0"/>
      <dgm:spPr/>
    </dgm:pt>
    <dgm:pt modelId="{0758957C-CD0D-4A78-8A90-8032065440CC}" type="pres">
      <dgm:prSet presAssocID="{203D9CF3-0C1E-4D94-986E-F557467D646C}" presName="parTx" presStyleLbl="revTx" presStyleIdx="1" presStyleCnt="3">
        <dgm:presLayoutVars>
          <dgm:chMax val="0"/>
          <dgm:chPref val="0"/>
        </dgm:presLayoutVars>
      </dgm:prSet>
      <dgm:spPr/>
    </dgm:pt>
    <dgm:pt modelId="{55A5425D-D853-4C98-8AB0-862EA7113C59}" type="pres">
      <dgm:prSet presAssocID="{7B8465B2-5308-4FF1-A673-89A34EBD5480}" presName="sibTrans" presStyleCnt="0"/>
      <dgm:spPr/>
    </dgm:pt>
    <dgm:pt modelId="{FCBA134C-9572-4B50-80B8-4E7AE2334E6A}" type="pres">
      <dgm:prSet presAssocID="{AA7F629A-D866-4BC0-8507-A54BEE8005B0}" presName="compNode" presStyleCnt="0"/>
      <dgm:spPr/>
    </dgm:pt>
    <dgm:pt modelId="{72F67B13-A5B6-4ABF-8069-38A933090C69}" type="pres">
      <dgm:prSet presAssocID="{AA7F629A-D866-4BC0-8507-A54BEE8005B0}" presName="bgRect" presStyleLbl="bgShp" presStyleIdx="2" presStyleCnt="3"/>
      <dgm:spPr/>
    </dgm:pt>
    <dgm:pt modelId="{5440964E-07EC-4173-9820-4A8FEDAF5F86}" type="pres">
      <dgm:prSet presAssocID="{AA7F629A-D866-4BC0-8507-A54BEE8005B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8A392AF8-3D8C-42E8-9483-8D2D8859A297}" type="pres">
      <dgm:prSet presAssocID="{AA7F629A-D866-4BC0-8507-A54BEE8005B0}" presName="spaceRect" presStyleCnt="0"/>
      <dgm:spPr/>
    </dgm:pt>
    <dgm:pt modelId="{131CF437-1CEC-4125-9A5B-D2DB698371D5}" type="pres">
      <dgm:prSet presAssocID="{AA7F629A-D866-4BC0-8507-A54BEE8005B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9439626-82D7-0D4C-80E4-6255733D8978}" type="presOf" srcId="{3343DA05-0079-4C85-8E78-7CB0D6501F00}" destId="{37D9EF44-0FF0-4BFE-AC7E-28D4A6C7DC8B}" srcOrd="0" destOrd="0" presId="urn:microsoft.com/office/officeart/2018/2/layout/IconVerticalSolidList"/>
    <dgm:cxn modelId="{5A0BBA29-5C89-4C0C-8DE7-9F1189DFAFC9}" srcId="{3343DA05-0079-4C85-8E78-7CB0D6501F00}" destId="{C0262432-944D-40BC-B406-46B1E433984F}" srcOrd="0" destOrd="0" parTransId="{9A7A6CD0-0DA0-4AA7-9A5D-39039440163A}" sibTransId="{9C7552C9-1DF1-49A5-9123-FB7847331B5A}"/>
    <dgm:cxn modelId="{B8CB253B-CDBE-4662-A21A-3AF564ABF120}" srcId="{3343DA05-0079-4C85-8E78-7CB0D6501F00}" destId="{AA7F629A-D866-4BC0-8507-A54BEE8005B0}" srcOrd="2" destOrd="0" parTransId="{D1F95BBA-77EB-4A51-A532-E24CD4716C86}" sibTransId="{031B80FE-AD7A-4332-9803-FEBDA9D0DA78}"/>
    <dgm:cxn modelId="{7E066C56-D457-3B4B-A713-178DBCDA3A99}" type="presOf" srcId="{203D9CF3-0C1E-4D94-986E-F557467D646C}" destId="{0758957C-CD0D-4A78-8A90-8032065440CC}" srcOrd="0" destOrd="0" presId="urn:microsoft.com/office/officeart/2018/2/layout/IconVerticalSolidList"/>
    <dgm:cxn modelId="{8AB0F381-7713-734E-A3F2-A2FC7D91258C}" type="presOf" srcId="{C0262432-944D-40BC-B406-46B1E433984F}" destId="{5F111C5F-4109-45A1-83F5-E694C5836FE6}" srcOrd="0" destOrd="0" presId="urn:microsoft.com/office/officeart/2018/2/layout/IconVerticalSolidList"/>
    <dgm:cxn modelId="{E1A4C6E1-33C5-4EE5-86A8-D0B684F428D0}" srcId="{3343DA05-0079-4C85-8E78-7CB0D6501F00}" destId="{203D9CF3-0C1E-4D94-986E-F557467D646C}" srcOrd="1" destOrd="0" parTransId="{315BB10E-3C71-4D50-B11E-FF88034545D2}" sibTransId="{7B8465B2-5308-4FF1-A673-89A34EBD5480}"/>
    <dgm:cxn modelId="{3B6E3BF6-65F8-3A44-9FAE-347562750938}" type="presOf" srcId="{AA7F629A-D866-4BC0-8507-A54BEE8005B0}" destId="{131CF437-1CEC-4125-9A5B-D2DB698371D5}" srcOrd="0" destOrd="0" presId="urn:microsoft.com/office/officeart/2018/2/layout/IconVerticalSolidList"/>
    <dgm:cxn modelId="{26FE33A2-BF9D-9C4C-BB19-FA9115F6F19C}" type="presParOf" srcId="{37D9EF44-0FF0-4BFE-AC7E-28D4A6C7DC8B}" destId="{E99C9685-0AFC-4274-81F0-FB531E8A8B51}" srcOrd="0" destOrd="0" presId="urn:microsoft.com/office/officeart/2018/2/layout/IconVerticalSolidList"/>
    <dgm:cxn modelId="{DD21615E-CAB2-5C43-876B-678C793C60B3}" type="presParOf" srcId="{E99C9685-0AFC-4274-81F0-FB531E8A8B51}" destId="{B9FF4564-8CF8-4317-A351-3A471FA7F4F2}" srcOrd="0" destOrd="0" presId="urn:microsoft.com/office/officeart/2018/2/layout/IconVerticalSolidList"/>
    <dgm:cxn modelId="{8ACAFB91-DA3C-274D-8CDC-9F031064C37D}" type="presParOf" srcId="{E99C9685-0AFC-4274-81F0-FB531E8A8B51}" destId="{E27DC773-9CB2-4901-94EB-9FAECC1A8440}" srcOrd="1" destOrd="0" presId="urn:microsoft.com/office/officeart/2018/2/layout/IconVerticalSolidList"/>
    <dgm:cxn modelId="{5DA68DDF-7FD6-9242-99C1-6A939045E267}" type="presParOf" srcId="{E99C9685-0AFC-4274-81F0-FB531E8A8B51}" destId="{9493620D-5A2D-41C8-9AB0-1BB1468A68B9}" srcOrd="2" destOrd="0" presId="urn:microsoft.com/office/officeart/2018/2/layout/IconVerticalSolidList"/>
    <dgm:cxn modelId="{AA2B4655-2BC7-454D-AF1E-19823529E91C}" type="presParOf" srcId="{E99C9685-0AFC-4274-81F0-FB531E8A8B51}" destId="{5F111C5F-4109-45A1-83F5-E694C5836FE6}" srcOrd="3" destOrd="0" presId="urn:microsoft.com/office/officeart/2018/2/layout/IconVerticalSolidList"/>
    <dgm:cxn modelId="{63512FD6-F9EC-414C-BD62-61411EE468E4}" type="presParOf" srcId="{37D9EF44-0FF0-4BFE-AC7E-28D4A6C7DC8B}" destId="{55AA494B-1B0A-4809-8E82-A58124548F63}" srcOrd="1" destOrd="0" presId="urn:microsoft.com/office/officeart/2018/2/layout/IconVerticalSolidList"/>
    <dgm:cxn modelId="{FA1B2B55-1758-E24F-8AEB-F3AA45EEAA6B}" type="presParOf" srcId="{37D9EF44-0FF0-4BFE-AC7E-28D4A6C7DC8B}" destId="{9253E29D-AB6C-4AD2-9770-2E43EA770846}" srcOrd="2" destOrd="0" presId="urn:microsoft.com/office/officeart/2018/2/layout/IconVerticalSolidList"/>
    <dgm:cxn modelId="{214D9502-04B3-8B43-BCE9-AD4E5B8DEF89}" type="presParOf" srcId="{9253E29D-AB6C-4AD2-9770-2E43EA770846}" destId="{9270151E-9F4B-4F7E-9510-6D3087F27EAB}" srcOrd="0" destOrd="0" presId="urn:microsoft.com/office/officeart/2018/2/layout/IconVerticalSolidList"/>
    <dgm:cxn modelId="{0268E7EC-A976-C94C-BCAD-2862B606D86B}" type="presParOf" srcId="{9253E29D-AB6C-4AD2-9770-2E43EA770846}" destId="{DE4C4613-0091-4714-BF8D-3AACF06F64A2}" srcOrd="1" destOrd="0" presId="urn:microsoft.com/office/officeart/2018/2/layout/IconVerticalSolidList"/>
    <dgm:cxn modelId="{5F4AF964-EB94-3F4D-AD06-724D3D5F17A9}" type="presParOf" srcId="{9253E29D-AB6C-4AD2-9770-2E43EA770846}" destId="{079D5F77-C1EE-42A2-BE4B-CA96E5C01256}" srcOrd="2" destOrd="0" presId="urn:microsoft.com/office/officeart/2018/2/layout/IconVerticalSolidList"/>
    <dgm:cxn modelId="{C375A72D-21AA-EB41-BEEB-2E3B8922366E}" type="presParOf" srcId="{9253E29D-AB6C-4AD2-9770-2E43EA770846}" destId="{0758957C-CD0D-4A78-8A90-8032065440CC}" srcOrd="3" destOrd="0" presId="urn:microsoft.com/office/officeart/2018/2/layout/IconVerticalSolidList"/>
    <dgm:cxn modelId="{13E15CAB-79BA-D846-B3CB-BC969CCD8BA3}" type="presParOf" srcId="{37D9EF44-0FF0-4BFE-AC7E-28D4A6C7DC8B}" destId="{55A5425D-D853-4C98-8AB0-862EA7113C59}" srcOrd="3" destOrd="0" presId="urn:microsoft.com/office/officeart/2018/2/layout/IconVerticalSolidList"/>
    <dgm:cxn modelId="{EDE17950-DC76-7841-AB8B-9980071911A9}" type="presParOf" srcId="{37D9EF44-0FF0-4BFE-AC7E-28D4A6C7DC8B}" destId="{FCBA134C-9572-4B50-80B8-4E7AE2334E6A}" srcOrd="4" destOrd="0" presId="urn:microsoft.com/office/officeart/2018/2/layout/IconVerticalSolidList"/>
    <dgm:cxn modelId="{50D09844-AC26-A14B-824F-2BD9B6497F8F}" type="presParOf" srcId="{FCBA134C-9572-4B50-80B8-4E7AE2334E6A}" destId="{72F67B13-A5B6-4ABF-8069-38A933090C69}" srcOrd="0" destOrd="0" presId="urn:microsoft.com/office/officeart/2018/2/layout/IconVerticalSolidList"/>
    <dgm:cxn modelId="{4DA8D4D7-E0CF-F945-89A3-470B6E6F335E}" type="presParOf" srcId="{FCBA134C-9572-4B50-80B8-4E7AE2334E6A}" destId="{5440964E-07EC-4173-9820-4A8FEDAF5F86}" srcOrd="1" destOrd="0" presId="urn:microsoft.com/office/officeart/2018/2/layout/IconVerticalSolidList"/>
    <dgm:cxn modelId="{5AACF647-11C0-8543-8D37-8D875BFE1E14}" type="presParOf" srcId="{FCBA134C-9572-4B50-80B8-4E7AE2334E6A}" destId="{8A392AF8-3D8C-42E8-9483-8D2D8859A297}" srcOrd="2" destOrd="0" presId="urn:microsoft.com/office/officeart/2018/2/layout/IconVerticalSolidList"/>
    <dgm:cxn modelId="{4E32E066-6C80-AF40-892B-F387F1241094}" type="presParOf" srcId="{FCBA134C-9572-4B50-80B8-4E7AE2334E6A}" destId="{131CF437-1CEC-4125-9A5B-D2DB698371D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46C595-745C-443B-B7D0-FFC1F02445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9ABFBBE-959F-4A83-9CD5-0CFF51917513}">
      <dgm:prSet/>
      <dgm:spPr/>
      <dgm:t>
        <a:bodyPr/>
        <a:lstStyle/>
        <a:p>
          <a:r>
            <a:rPr lang="en-NG" b="1"/>
            <a:t>Governance &amp; Compliance (GC): </a:t>
          </a:r>
          <a:endParaRPr lang="en-US"/>
        </a:p>
      </dgm:t>
    </dgm:pt>
    <dgm:pt modelId="{163A8552-5D47-4E57-B9F2-0DE89C388766}" type="parTrans" cxnId="{DE4EAA69-1C9D-4865-AEBC-09F942A9EBBC}">
      <dgm:prSet/>
      <dgm:spPr/>
      <dgm:t>
        <a:bodyPr/>
        <a:lstStyle/>
        <a:p>
          <a:endParaRPr lang="en-US"/>
        </a:p>
      </dgm:t>
    </dgm:pt>
    <dgm:pt modelId="{7C38A012-9751-4926-8089-543A08082705}" type="sibTrans" cxnId="{DE4EAA69-1C9D-4865-AEBC-09F942A9EBBC}">
      <dgm:prSet/>
      <dgm:spPr/>
      <dgm:t>
        <a:bodyPr/>
        <a:lstStyle/>
        <a:p>
          <a:endParaRPr lang="en-US"/>
        </a:p>
      </dgm:t>
    </dgm:pt>
    <dgm:pt modelId="{4246A9C7-E2DC-46F7-BF6A-C75DFB450940}">
      <dgm:prSet/>
      <dgm:spPr/>
      <dgm:t>
        <a:bodyPr/>
        <a:lstStyle/>
        <a:p>
          <a:r>
            <a:rPr lang="en-NG"/>
            <a:t>Implementation of governance policies, designate cybersecurity leadership, and comply with regulations and national laws.</a:t>
          </a:r>
          <a:endParaRPr lang="en-US"/>
        </a:p>
      </dgm:t>
    </dgm:pt>
    <dgm:pt modelId="{1EEA45B8-BA8F-4F4E-B480-E6446E05BEEE}" type="parTrans" cxnId="{AB8BAA51-7607-4CDA-A9BF-9EBC1F811203}">
      <dgm:prSet/>
      <dgm:spPr/>
      <dgm:t>
        <a:bodyPr/>
        <a:lstStyle/>
        <a:p>
          <a:endParaRPr lang="en-US"/>
        </a:p>
      </dgm:t>
    </dgm:pt>
    <dgm:pt modelId="{9369C171-87C2-4642-9B11-7E666C66169E}" type="sibTrans" cxnId="{AB8BAA51-7607-4CDA-A9BF-9EBC1F811203}">
      <dgm:prSet/>
      <dgm:spPr/>
      <dgm:t>
        <a:bodyPr/>
        <a:lstStyle/>
        <a:p>
          <a:endParaRPr lang="en-US"/>
        </a:p>
      </dgm:t>
    </dgm:pt>
    <dgm:pt modelId="{58EA02DC-8D64-4763-AE20-0E988E5536E9}">
      <dgm:prSet/>
      <dgm:spPr/>
      <dgm:t>
        <a:bodyPr/>
        <a:lstStyle/>
        <a:p>
          <a:r>
            <a:rPr lang="en-NG" b="1"/>
            <a:t>Risk Management: </a:t>
          </a:r>
          <a:endParaRPr lang="en-US"/>
        </a:p>
      </dgm:t>
    </dgm:pt>
    <dgm:pt modelId="{3617172A-0FF2-4ABE-898F-8E8F776EF9C7}" type="parTrans" cxnId="{6C37093D-06D2-4E4D-BB6E-53E4771297DE}">
      <dgm:prSet/>
      <dgm:spPr/>
      <dgm:t>
        <a:bodyPr/>
        <a:lstStyle/>
        <a:p>
          <a:endParaRPr lang="en-US"/>
        </a:p>
      </dgm:t>
    </dgm:pt>
    <dgm:pt modelId="{E9E8B9C8-7767-4D54-A057-1490B6DF8D52}" type="sibTrans" cxnId="{6C37093D-06D2-4E4D-BB6E-53E4771297DE}">
      <dgm:prSet/>
      <dgm:spPr/>
      <dgm:t>
        <a:bodyPr/>
        <a:lstStyle/>
        <a:p>
          <a:endParaRPr lang="en-US"/>
        </a:p>
      </dgm:t>
    </dgm:pt>
    <dgm:pt modelId="{66163063-D1E0-4E30-BB4F-3B01949C423E}">
      <dgm:prSet/>
      <dgm:spPr/>
      <dgm:t>
        <a:bodyPr/>
        <a:lstStyle/>
        <a:p>
          <a:r>
            <a:rPr lang="en-NG"/>
            <a:t>Asset management, threat analyses, situational awareness, and information sharing.</a:t>
          </a:r>
          <a:endParaRPr lang="en-US"/>
        </a:p>
      </dgm:t>
    </dgm:pt>
    <dgm:pt modelId="{59664741-436B-4573-B910-E469450986FF}" type="parTrans" cxnId="{11A8C2E0-0A35-433B-85CD-B715EB65DADA}">
      <dgm:prSet/>
      <dgm:spPr/>
      <dgm:t>
        <a:bodyPr/>
        <a:lstStyle/>
        <a:p>
          <a:endParaRPr lang="en-US"/>
        </a:p>
      </dgm:t>
    </dgm:pt>
    <dgm:pt modelId="{7D42CC8E-480B-4761-BD93-E7573EF8A532}" type="sibTrans" cxnId="{11A8C2E0-0A35-433B-85CD-B715EB65DADA}">
      <dgm:prSet/>
      <dgm:spPr/>
      <dgm:t>
        <a:bodyPr/>
        <a:lstStyle/>
        <a:p>
          <a:endParaRPr lang="en-US"/>
        </a:p>
      </dgm:t>
    </dgm:pt>
    <dgm:pt modelId="{92F74265-4A35-4CEB-8E74-1F7773AE20A4}">
      <dgm:prSet/>
      <dgm:spPr/>
      <dgm:t>
        <a:bodyPr/>
        <a:lstStyle/>
        <a:p>
          <a:r>
            <a:rPr lang="en-NG" b="1"/>
            <a:t>Cybersecurity Posture: </a:t>
          </a:r>
          <a:endParaRPr lang="en-US"/>
        </a:p>
      </dgm:t>
    </dgm:pt>
    <dgm:pt modelId="{6BD1CEEA-398F-4BF1-B0D3-810A5E700C35}" type="parTrans" cxnId="{52F0FD65-A579-46E8-8099-B2648F6BA7F4}">
      <dgm:prSet/>
      <dgm:spPr/>
      <dgm:t>
        <a:bodyPr/>
        <a:lstStyle/>
        <a:p>
          <a:endParaRPr lang="en-US"/>
        </a:p>
      </dgm:t>
    </dgm:pt>
    <dgm:pt modelId="{78F60B5E-2912-4488-9644-60F9F6509AA1}" type="sibTrans" cxnId="{52F0FD65-A579-46E8-8099-B2648F6BA7F4}">
      <dgm:prSet/>
      <dgm:spPr/>
      <dgm:t>
        <a:bodyPr/>
        <a:lstStyle/>
        <a:p>
          <a:endParaRPr lang="en-US"/>
        </a:p>
      </dgm:t>
    </dgm:pt>
    <dgm:pt modelId="{56FF9D47-59FE-45DB-A873-2A5ED38B2B05}">
      <dgm:prSet/>
      <dgm:spPr/>
      <dgm:t>
        <a:bodyPr/>
        <a:lstStyle/>
        <a:p>
          <a:r>
            <a:rPr lang="en-NG"/>
            <a:t>Technical and organisational protective measures securing digital assets. </a:t>
          </a:r>
          <a:endParaRPr lang="en-US"/>
        </a:p>
      </dgm:t>
    </dgm:pt>
    <dgm:pt modelId="{02D3E88F-7545-4381-B4DE-85C25CBF0170}" type="parTrans" cxnId="{158CBAAF-B0ED-48A7-9003-373233ED20B0}">
      <dgm:prSet/>
      <dgm:spPr/>
      <dgm:t>
        <a:bodyPr/>
        <a:lstStyle/>
        <a:p>
          <a:endParaRPr lang="en-US"/>
        </a:p>
      </dgm:t>
    </dgm:pt>
    <dgm:pt modelId="{ACE69B3A-864B-4D10-8B91-4ABC91A289D6}" type="sibTrans" cxnId="{158CBAAF-B0ED-48A7-9003-373233ED20B0}">
      <dgm:prSet/>
      <dgm:spPr/>
      <dgm:t>
        <a:bodyPr/>
        <a:lstStyle/>
        <a:p>
          <a:endParaRPr lang="en-US"/>
        </a:p>
      </dgm:t>
    </dgm:pt>
    <dgm:pt modelId="{972CAB02-94CA-4A27-BDD2-CC34D4482843}">
      <dgm:prSet/>
      <dgm:spPr/>
      <dgm:t>
        <a:bodyPr/>
        <a:lstStyle/>
        <a:p>
          <a:r>
            <a:rPr lang="en-NG"/>
            <a:t>Includes data protection, access controls, network security, cyber hygiene, and third-party risk management.</a:t>
          </a:r>
          <a:endParaRPr lang="en-US"/>
        </a:p>
      </dgm:t>
    </dgm:pt>
    <dgm:pt modelId="{780BEBEB-7C8B-4BB6-981B-7814041CF448}" type="parTrans" cxnId="{D559E56F-5F89-48E4-999C-2CB3D44EAB6D}">
      <dgm:prSet/>
      <dgm:spPr/>
      <dgm:t>
        <a:bodyPr/>
        <a:lstStyle/>
        <a:p>
          <a:endParaRPr lang="en-US"/>
        </a:p>
      </dgm:t>
    </dgm:pt>
    <dgm:pt modelId="{BCC7FA60-3746-4F7C-9C1D-CA7E5135454B}" type="sibTrans" cxnId="{D559E56F-5F89-48E4-999C-2CB3D44EAB6D}">
      <dgm:prSet/>
      <dgm:spPr/>
      <dgm:t>
        <a:bodyPr/>
        <a:lstStyle/>
        <a:p>
          <a:endParaRPr lang="en-US"/>
        </a:p>
      </dgm:t>
    </dgm:pt>
    <dgm:pt modelId="{F5295985-B9D2-46C5-B974-D7CA4621264F}">
      <dgm:prSet/>
      <dgm:spPr/>
      <dgm:t>
        <a:bodyPr/>
        <a:lstStyle/>
        <a:p>
          <a:r>
            <a:rPr lang="en-NG" b="1"/>
            <a:t>Incident Response, Management &amp; Resilience: </a:t>
          </a:r>
          <a:endParaRPr lang="en-US"/>
        </a:p>
      </dgm:t>
    </dgm:pt>
    <dgm:pt modelId="{A0C62F78-FFC5-4ADE-B9EE-7D6732922284}" type="parTrans" cxnId="{486DEBB8-9C52-4AB8-A798-03FC6B4CF907}">
      <dgm:prSet/>
      <dgm:spPr/>
      <dgm:t>
        <a:bodyPr/>
        <a:lstStyle/>
        <a:p>
          <a:endParaRPr lang="en-US"/>
        </a:p>
      </dgm:t>
    </dgm:pt>
    <dgm:pt modelId="{F288A179-0BCB-4EAD-9A15-EE2A2CF4F0FA}" type="sibTrans" cxnId="{486DEBB8-9C52-4AB8-A798-03FC6B4CF907}">
      <dgm:prSet/>
      <dgm:spPr/>
      <dgm:t>
        <a:bodyPr/>
        <a:lstStyle/>
        <a:p>
          <a:endParaRPr lang="en-US"/>
        </a:p>
      </dgm:t>
    </dgm:pt>
    <dgm:pt modelId="{A248FBFF-0559-477B-813C-6B541D473BF8}">
      <dgm:prSet/>
      <dgm:spPr/>
      <dgm:t>
        <a:bodyPr/>
        <a:lstStyle/>
        <a:p>
          <a:r>
            <a:rPr lang="en-NG"/>
            <a:t>Ensuring sector’s preparedness to detect, respond to, and recover from cyber incidents. </a:t>
          </a:r>
          <a:endParaRPr lang="en-US"/>
        </a:p>
      </dgm:t>
    </dgm:pt>
    <dgm:pt modelId="{97A8936C-AA8B-4D10-BB2E-686EAF9F8793}" type="parTrans" cxnId="{EE71E9A4-2E1E-4283-86E9-AAC9CDDA0385}">
      <dgm:prSet/>
      <dgm:spPr/>
      <dgm:t>
        <a:bodyPr/>
        <a:lstStyle/>
        <a:p>
          <a:endParaRPr lang="en-US"/>
        </a:p>
      </dgm:t>
    </dgm:pt>
    <dgm:pt modelId="{4177B008-CB33-4F86-888C-3DE8DDC166DA}" type="sibTrans" cxnId="{EE71E9A4-2E1E-4283-86E9-AAC9CDDA0385}">
      <dgm:prSet/>
      <dgm:spPr/>
      <dgm:t>
        <a:bodyPr/>
        <a:lstStyle/>
        <a:p>
          <a:endParaRPr lang="en-US"/>
        </a:p>
      </dgm:t>
    </dgm:pt>
    <dgm:pt modelId="{B586CCA3-2B71-4BD3-A115-9792388CF7F7}">
      <dgm:prSet/>
      <dgm:spPr/>
      <dgm:t>
        <a:bodyPr/>
        <a:lstStyle/>
        <a:p>
          <a:r>
            <a:rPr lang="en-NG"/>
            <a:t>Key components include incident response planning, monitoring systems, and recovery mechanisms.</a:t>
          </a:r>
          <a:endParaRPr lang="en-US"/>
        </a:p>
      </dgm:t>
    </dgm:pt>
    <dgm:pt modelId="{1DE90C65-694A-4986-B20F-8FC4037F3F95}" type="parTrans" cxnId="{CFA7BF5D-B68D-4C6D-98D0-B0EE65E4941E}">
      <dgm:prSet/>
      <dgm:spPr/>
      <dgm:t>
        <a:bodyPr/>
        <a:lstStyle/>
        <a:p>
          <a:endParaRPr lang="en-US"/>
        </a:p>
      </dgm:t>
    </dgm:pt>
    <dgm:pt modelId="{447E7DCC-A5C0-49CB-823C-E9400E8B219A}" type="sibTrans" cxnId="{CFA7BF5D-B68D-4C6D-98D0-B0EE65E4941E}">
      <dgm:prSet/>
      <dgm:spPr/>
      <dgm:t>
        <a:bodyPr/>
        <a:lstStyle/>
        <a:p>
          <a:endParaRPr lang="en-US"/>
        </a:p>
      </dgm:t>
    </dgm:pt>
    <dgm:pt modelId="{8C923B8A-23A5-40A7-89BF-C41751E7E93D}">
      <dgm:prSet/>
      <dgm:spPr/>
      <dgm:t>
        <a:bodyPr/>
        <a:lstStyle/>
        <a:p>
          <a:r>
            <a:rPr lang="en-NG" b="1"/>
            <a:t>Capacity Building &amp; Development: </a:t>
          </a:r>
          <a:endParaRPr lang="en-US"/>
        </a:p>
      </dgm:t>
    </dgm:pt>
    <dgm:pt modelId="{41EFBF27-1A1E-41E0-9456-A899EF918F36}" type="parTrans" cxnId="{D77CD00F-F827-4D76-BEA9-DDC453C0225A}">
      <dgm:prSet/>
      <dgm:spPr/>
      <dgm:t>
        <a:bodyPr/>
        <a:lstStyle/>
        <a:p>
          <a:endParaRPr lang="en-US"/>
        </a:p>
      </dgm:t>
    </dgm:pt>
    <dgm:pt modelId="{3E257A22-AD0C-4EBD-9692-B6B4AEDB8ECF}" type="sibTrans" cxnId="{D77CD00F-F827-4D76-BEA9-DDC453C0225A}">
      <dgm:prSet/>
      <dgm:spPr/>
      <dgm:t>
        <a:bodyPr/>
        <a:lstStyle/>
        <a:p>
          <a:endParaRPr lang="en-US"/>
        </a:p>
      </dgm:t>
    </dgm:pt>
    <dgm:pt modelId="{16C7B6BB-A675-433C-9E3D-50C400227B79}">
      <dgm:prSet/>
      <dgm:spPr/>
      <dgm:t>
        <a:bodyPr/>
        <a:lstStyle/>
        <a:p>
          <a:r>
            <a:rPr lang="en-NG"/>
            <a:t>Cybersecurity awareness, skill acquisition, talent development, research, and collaborative engagements among stakeholders.</a:t>
          </a:r>
          <a:endParaRPr lang="en-US"/>
        </a:p>
      </dgm:t>
    </dgm:pt>
    <dgm:pt modelId="{66191C9B-1762-4964-8E0C-33DB8EEA5EF7}" type="parTrans" cxnId="{582FA43E-924F-4739-986B-6766361A2693}">
      <dgm:prSet/>
      <dgm:spPr/>
      <dgm:t>
        <a:bodyPr/>
        <a:lstStyle/>
        <a:p>
          <a:endParaRPr lang="en-US"/>
        </a:p>
      </dgm:t>
    </dgm:pt>
    <dgm:pt modelId="{E35F46FD-0324-4200-B7E4-66D019A922B0}" type="sibTrans" cxnId="{582FA43E-924F-4739-986B-6766361A2693}">
      <dgm:prSet/>
      <dgm:spPr/>
      <dgm:t>
        <a:bodyPr/>
        <a:lstStyle/>
        <a:p>
          <a:endParaRPr lang="en-US"/>
        </a:p>
      </dgm:t>
    </dgm:pt>
    <dgm:pt modelId="{BBE4E0B0-31A8-024F-9F64-77FE6DBECFE0}" type="pres">
      <dgm:prSet presAssocID="{A846C595-745C-443B-B7D0-FFC1F02445A4}" presName="linear" presStyleCnt="0">
        <dgm:presLayoutVars>
          <dgm:animLvl val="lvl"/>
          <dgm:resizeHandles val="exact"/>
        </dgm:presLayoutVars>
      </dgm:prSet>
      <dgm:spPr/>
    </dgm:pt>
    <dgm:pt modelId="{4B0E4EAB-013F-A94D-B818-D867310084E9}" type="pres">
      <dgm:prSet presAssocID="{E9ABFBBE-959F-4A83-9CD5-0CFF5191751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F82B047-D58F-5E41-903E-28A6D15162E7}" type="pres">
      <dgm:prSet presAssocID="{E9ABFBBE-959F-4A83-9CD5-0CFF51917513}" presName="childText" presStyleLbl="revTx" presStyleIdx="0" presStyleCnt="5">
        <dgm:presLayoutVars>
          <dgm:bulletEnabled val="1"/>
        </dgm:presLayoutVars>
      </dgm:prSet>
      <dgm:spPr/>
    </dgm:pt>
    <dgm:pt modelId="{504731B8-F125-CE44-B510-FCEF08DCBE80}" type="pres">
      <dgm:prSet presAssocID="{58EA02DC-8D64-4763-AE20-0E988E5536E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6ACAD9C-B221-0742-A1DD-97AACF41F24B}" type="pres">
      <dgm:prSet presAssocID="{58EA02DC-8D64-4763-AE20-0E988E5536E9}" presName="childText" presStyleLbl="revTx" presStyleIdx="1" presStyleCnt="5">
        <dgm:presLayoutVars>
          <dgm:bulletEnabled val="1"/>
        </dgm:presLayoutVars>
      </dgm:prSet>
      <dgm:spPr/>
    </dgm:pt>
    <dgm:pt modelId="{1F6AE1E7-14A5-3E41-8E79-2B9615CADF2A}" type="pres">
      <dgm:prSet presAssocID="{92F74265-4A35-4CEB-8E74-1F7773AE20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2ACDE41-857D-434D-924E-EF103FB39A4A}" type="pres">
      <dgm:prSet presAssocID="{92F74265-4A35-4CEB-8E74-1F7773AE20A4}" presName="childText" presStyleLbl="revTx" presStyleIdx="2" presStyleCnt="5">
        <dgm:presLayoutVars>
          <dgm:bulletEnabled val="1"/>
        </dgm:presLayoutVars>
      </dgm:prSet>
      <dgm:spPr/>
    </dgm:pt>
    <dgm:pt modelId="{84A4C3C0-738A-2F4D-BA88-A6F6418D2B4D}" type="pres">
      <dgm:prSet presAssocID="{F5295985-B9D2-46C5-B974-D7CA4621264F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C45937E-2807-6849-B68C-0255C25596EE}" type="pres">
      <dgm:prSet presAssocID="{F5295985-B9D2-46C5-B974-D7CA4621264F}" presName="childText" presStyleLbl="revTx" presStyleIdx="3" presStyleCnt="5">
        <dgm:presLayoutVars>
          <dgm:bulletEnabled val="1"/>
        </dgm:presLayoutVars>
      </dgm:prSet>
      <dgm:spPr/>
    </dgm:pt>
    <dgm:pt modelId="{46A1E7C8-C4CA-DC40-90B4-1F0574A617B0}" type="pres">
      <dgm:prSet presAssocID="{8C923B8A-23A5-40A7-89BF-C41751E7E93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F982171A-C33B-814B-A177-C98A8385AB06}" type="pres">
      <dgm:prSet presAssocID="{8C923B8A-23A5-40A7-89BF-C41751E7E93D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2E2CBB0F-2C41-2545-B5FF-B36DDBE746A9}" type="presOf" srcId="{58EA02DC-8D64-4763-AE20-0E988E5536E9}" destId="{504731B8-F125-CE44-B510-FCEF08DCBE80}" srcOrd="0" destOrd="0" presId="urn:microsoft.com/office/officeart/2005/8/layout/vList2"/>
    <dgm:cxn modelId="{D77CD00F-F827-4D76-BEA9-DDC453C0225A}" srcId="{A846C595-745C-443B-B7D0-FFC1F02445A4}" destId="{8C923B8A-23A5-40A7-89BF-C41751E7E93D}" srcOrd="4" destOrd="0" parTransId="{41EFBF27-1A1E-41E0-9456-A899EF918F36}" sibTransId="{3E257A22-AD0C-4EBD-9692-B6B4AEDB8ECF}"/>
    <dgm:cxn modelId="{08D36720-CEEA-DD4A-A120-28D307C27616}" type="presOf" srcId="{972CAB02-94CA-4A27-BDD2-CC34D4482843}" destId="{E2ACDE41-857D-434D-924E-EF103FB39A4A}" srcOrd="0" destOrd="1" presId="urn:microsoft.com/office/officeart/2005/8/layout/vList2"/>
    <dgm:cxn modelId="{4878512C-BC07-9B40-ACD8-4ABF300F6A0C}" type="presOf" srcId="{F5295985-B9D2-46C5-B974-D7CA4621264F}" destId="{84A4C3C0-738A-2F4D-BA88-A6F6418D2B4D}" srcOrd="0" destOrd="0" presId="urn:microsoft.com/office/officeart/2005/8/layout/vList2"/>
    <dgm:cxn modelId="{DD03E52E-4832-4D4D-B67A-D4F6E09E350E}" type="presOf" srcId="{56FF9D47-59FE-45DB-A873-2A5ED38B2B05}" destId="{E2ACDE41-857D-434D-924E-EF103FB39A4A}" srcOrd="0" destOrd="0" presId="urn:microsoft.com/office/officeart/2005/8/layout/vList2"/>
    <dgm:cxn modelId="{B5AE6330-94AB-DF4B-96CF-36B4D8BD1802}" type="presOf" srcId="{E9ABFBBE-959F-4A83-9CD5-0CFF51917513}" destId="{4B0E4EAB-013F-A94D-B818-D867310084E9}" srcOrd="0" destOrd="0" presId="urn:microsoft.com/office/officeart/2005/8/layout/vList2"/>
    <dgm:cxn modelId="{2868E73B-5647-2B4D-AAFF-31BA1BCCD0BB}" type="presOf" srcId="{8C923B8A-23A5-40A7-89BF-C41751E7E93D}" destId="{46A1E7C8-C4CA-DC40-90B4-1F0574A617B0}" srcOrd="0" destOrd="0" presId="urn:microsoft.com/office/officeart/2005/8/layout/vList2"/>
    <dgm:cxn modelId="{6C37093D-06D2-4E4D-BB6E-53E4771297DE}" srcId="{A846C595-745C-443B-B7D0-FFC1F02445A4}" destId="{58EA02DC-8D64-4763-AE20-0E988E5536E9}" srcOrd="1" destOrd="0" parTransId="{3617172A-0FF2-4ABE-898F-8E8F776EF9C7}" sibTransId="{E9E8B9C8-7767-4D54-A057-1490B6DF8D52}"/>
    <dgm:cxn modelId="{582FA43E-924F-4739-986B-6766361A2693}" srcId="{8C923B8A-23A5-40A7-89BF-C41751E7E93D}" destId="{16C7B6BB-A675-433C-9E3D-50C400227B79}" srcOrd="0" destOrd="0" parTransId="{66191C9B-1762-4964-8E0C-33DB8EEA5EF7}" sibTransId="{E35F46FD-0324-4200-B7E4-66D019A922B0}"/>
    <dgm:cxn modelId="{AB8BAA51-7607-4CDA-A9BF-9EBC1F811203}" srcId="{E9ABFBBE-959F-4A83-9CD5-0CFF51917513}" destId="{4246A9C7-E2DC-46F7-BF6A-C75DFB450940}" srcOrd="0" destOrd="0" parTransId="{1EEA45B8-BA8F-4F4E-B480-E6446E05BEEE}" sibTransId="{9369C171-87C2-4642-9B11-7E666C66169E}"/>
    <dgm:cxn modelId="{61EF0F55-B5E9-934E-9F09-4924BEF7CE1B}" type="presOf" srcId="{92F74265-4A35-4CEB-8E74-1F7773AE20A4}" destId="{1F6AE1E7-14A5-3E41-8E79-2B9615CADF2A}" srcOrd="0" destOrd="0" presId="urn:microsoft.com/office/officeart/2005/8/layout/vList2"/>
    <dgm:cxn modelId="{B991A155-2493-8344-868B-A05117A20BEE}" type="presOf" srcId="{A248FBFF-0559-477B-813C-6B541D473BF8}" destId="{7C45937E-2807-6849-B68C-0255C25596EE}" srcOrd="0" destOrd="0" presId="urn:microsoft.com/office/officeart/2005/8/layout/vList2"/>
    <dgm:cxn modelId="{CFA7BF5D-B68D-4C6D-98D0-B0EE65E4941E}" srcId="{F5295985-B9D2-46C5-B974-D7CA4621264F}" destId="{B586CCA3-2B71-4BD3-A115-9792388CF7F7}" srcOrd="1" destOrd="0" parTransId="{1DE90C65-694A-4986-B20F-8FC4037F3F95}" sibTransId="{447E7DCC-A5C0-49CB-823C-E9400E8B219A}"/>
    <dgm:cxn modelId="{52F0FD65-A579-46E8-8099-B2648F6BA7F4}" srcId="{A846C595-745C-443B-B7D0-FFC1F02445A4}" destId="{92F74265-4A35-4CEB-8E74-1F7773AE20A4}" srcOrd="2" destOrd="0" parTransId="{6BD1CEEA-398F-4BF1-B0D3-810A5E700C35}" sibTransId="{78F60B5E-2912-4488-9644-60F9F6509AA1}"/>
    <dgm:cxn modelId="{DE4EAA69-1C9D-4865-AEBC-09F942A9EBBC}" srcId="{A846C595-745C-443B-B7D0-FFC1F02445A4}" destId="{E9ABFBBE-959F-4A83-9CD5-0CFF51917513}" srcOrd="0" destOrd="0" parTransId="{163A8552-5D47-4E57-B9F2-0DE89C388766}" sibTransId="{7C38A012-9751-4926-8089-543A08082705}"/>
    <dgm:cxn modelId="{D559E56F-5F89-48E4-999C-2CB3D44EAB6D}" srcId="{92F74265-4A35-4CEB-8E74-1F7773AE20A4}" destId="{972CAB02-94CA-4A27-BDD2-CC34D4482843}" srcOrd="1" destOrd="0" parTransId="{780BEBEB-7C8B-4BB6-981B-7814041CF448}" sibTransId="{BCC7FA60-3746-4F7C-9C1D-CA7E5135454B}"/>
    <dgm:cxn modelId="{71CB6694-4865-174A-9430-3116BD245C08}" type="presOf" srcId="{A846C595-745C-443B-B7D0-FFC1F02445A4}" destId="{BBE4E0B0-31A8-024F-9F64-77FE6DBECFE0}" srcOrd="0" destOrd="0" presId="urn:microsoft.com/office/officeart/2005/8/layout/vList2"/>
    <dgm:cxn modelId="{E7DA9BA0-A58F-DB4E-A151-741404AD0755}" type="presOf" srcId="{4246A9C7-E2DC-46F7-BF6A-C75DFB450940}" destId="{2F82B047-D58F-5E41-903E-28A6D15162E7}" srcOrd="0" destOrd="0" presId="urn:microsoft.com/office/officeart/2005/8/layout/vList2"/>
    <dgm:cxn modelId="{EE71E9A4-2E1E-4283-86E9-AAC9CDDA0385}" srcId="{F5295985-B9D2-46C5-B974-D7CA4621264F}" destId="{A248FBFF-0559-477B-813C-6B541D473BF8}" srcOrd="0" destOrd="0" parTransId="{97A8936C-AA8B-4D10-BB2E-686EAF9F8793}" sibTransId="{4177B008-CB33-4F86-888C-3DE8DDC166DA}"/>
    <dgm:cxn modelId="{158CBAAF-B0ED-48A7-9003-373233ED20B0}" srcId="{92F74265-4A35-4CEB-8E74-1F7773AE20A4}" destId="{56FF9D47-59FE-45DB-A873-2A5ED38B2B05}" srcOrd="0" destOrd="0" parTransId="{02D3E88F-7545-4381-B4DE-85C25CBF0170}" sibTransId="{ACE69B3A-864B-4D10-8B91-4ABC91A289D6}"/>
    <dgm:cxn modelId="{26132DB7-3515-0143-9CA6-B4CB750D4B1B}" type="presOf" srcId="{66163063-D1E0-4E30-BB4F-3B01949C423E}" destId="{26ACAD9C-B221-0742-A1DD-97AACF41F24B}" srcOrd="0" destOrd="0" presId="urn:microsoft.com/office/officeart/2005/8/layout/vList2"/>
    <dgm:cxn modelId="{486DEBB8-9C52-4AB8-A798-03FC6B4CF907}" srcId="{A846C595-745C-443B-B7D0-FFC1F02445A4}" destId="{F5295985-B9D2-46C5-B974-D7CA4621264F}" srcOrd="3" destOrd="0" parTransId="{A0C62F78-FFC5-4ADE-B9EE-7D6732922284}" sibTransId="{F288A179-0BCB-4EAD-9A15-EE2A2CF4F0FA}"/>
    <dgm:cxn modelId="{3B6D8ED5-10DA-344D-9E5B-946B3CE94C30}" type="presOf" srcId="{B586CCA3-2B71-4BD3-A115-9792388CF7F7}" destId="{7C45937E-2807-6849-B68C-0255C25596EE}" srcOrd="0" destOrd="1" presId="urn:microsoft.com/office/officeart/2005/8/layout/vList2"/>
    <dgm:cxn modelId="{11A8C2E0-0A35-433B-85CD-B715EB65DADA}" srcId="{58EA02DC-8D64-4763-AE20-0E988E5536E9}" destId="{66163063-D1E0-4E30-BB4F-3B01949C423E}" srcOrd="0" destOrd="0" parTransId="{59664741-436B-4573-B910-E469450986FF}" sibTransId="{7D42CC8E-480B-4761-BD93-E7573EF8A532}"/>
    <dgm:cxn modelId="{F6748CFC-AE28-1241-AE76-0F1E2A62DAF1}" type="presOf" srcId="{16C7B6BB-A675-433C-9E3D-50C400227B79}" destId="{F982171A-C33B-814B-A177-C98A8385AB06}" srcOrd="0" destOrd="0" presId="urn:microsoft.com/office/officeart/2005/8/layout/vList2"/>
    <dgm:cxn modelId="{268E53E3-7C0E-1246-843F-4CA7DC37B511}" type="presParOf" srcId="{BBE4E0B0-31A8-024F-9F64-77FE6DBECFE0}" destId="{4B0E4EAB-013F-A94D-B818-D867310084E9}" srcOrd="0" destOrd="0" presId="urn:microsoft.com/office/officeart/2005/8/layout/vList2"/>
    <dgm:cxn modelId="{077EA2E7-9C4E-5B4F-B7C8-A897B38F854C}" type="presParOf" srcId="{BBE4E0B0-31A8-024F-9F64-77FE6DBECFE0}" destId="{2F82B047-D58F-5E41-903E-28A6D15162E7}" srcOrd="1" destOrd="0" presId="urn:microsoft.com/office/officeart/2005/8/layout/vList2"/>
    <dgm:cxn modelId="{C0AE431A-CCF6-E546-AD68-A6253EDCC606}" type="presParOf" srcId="{BBE4E0B0-31A8-024F-9F64-77FE6DBECFE0}" destId="{504731B8-F125-CE44-B510-FCEF08DCBE80}" srcOrd="2" destOrd="0" presId="urn:microsoft.com/office/officeart/2005/8/layout/vList2"/>
    <dgm:cxn modelId="{7DF6EF5F-2D98-0642-9AA0-82E1A373C235}" type="presParOf" srcId="{BBE4E0B0-31A8-024F-9F64-77FE6DBECFE0}" destId="{26ACAD9C-B221-0742-A1DD-97AACF41F24B}" srcOrd="3" destOrd="0" presId="urn:microsoft.com/office/officeart/2005/8/layout/vList2"/>
    <dgm:cxn modelId="{DF7516F9-6587-824D-9AEE-7C21DAE73637}" type="presParOf" srcId="{BBE4E0B0-31A8-024F-9F64-77FE6DBECFE0}" destId="{1F6AE1E7-14A5-3E41-8E79-2B9615CADF2A}" srcOrd="4" destOrd="0" presId="urn:microsoft.com/office/officeart/2005/8/layout/vList2"/>
    <dgm:cxn modelId="{6CA830FE-DAF9-A74F-BC7B-4EB00650FC73}" type="presParOf" srcId="{BBE4E0B0-31A8-024F-9F64-77FE6DBECFE0}" destId="{E2ACDE41-857D-434D-924E-EF103FB39A4A}" srcOrd="5" destOrd="0" presId="urn:microsoft.com/office/officeart/2005/8/layout/vList2"/>
    <dgm:cxn modelId="{70FCB201-D478-F346-A40C-D1E703AA5278}" type="presParOf" srcId="{BBE4E0B0-31A8-024F-9F64-77FE6DBECFE0}" destId="{84A4C3C0-738A-2F4D-BA88-A6F6418D2B4D}" srcOrd="6" destOrd="0" presId="urn:microsoft.com/office/officeart/2005/8/layout/vList2"/>
    <dgm:cxn modelId="{3FF4248B-E38D-B947-9C5C-3B73D87E1F98}" type="presParOf" srcId="{BBE4E0B0-31A8-024F-9F64-77FE6DBECFE0}" destId="{7C45937E-2807-6849-B68C-0255C25596EE}" srcOrd="7" destOrd="0" presId="urn:microsoft.com/office/officeart/2005/8/layout/vList2"/>
    <dgm:cxn modelId="{C9ECF47C-4BE2-A742-84A3-3ABF98E0B5FA}" type="presParOf" srcId="{BBE4E0B0-31A8-024F-9F64-77FE6DBECFE0}" destId="{46A1E7C8-C4CA-DC40-90B4-1F0574A617B0}" srcOrd="8" destOrd="0" presId="urn:microsoft.com/office/officeart/2005/8/layout/vList2"/>
    <dgm:cxn modelId="{7454D8F9-156A-634C-81F2-B7BEC09DF75B}" type="presParOf" srcId="{BBE4E0B0-31A8-024F-9F64-77FE6DBECFE0}" destId="{F982171A-C33B-814B-A177-C98A8385AB06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EA551-5B62-0242-8B81-FD06B0F06BA8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6F14F5A5-42BE-B949-8656-75CCCCD5445A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Objectives and goals of the GRC platform</a:t>
          </a:r>
          <a:endParaRPr lang="en-US" sz="2900" kern="1200" dirty="0"/>
        </a:p>
      </dsp:txBody>
      <dsp:txXfrm>
        <a:off x="8061" y="5979"/>
        <a:ext cx="3034531" cy="1820718"/>
      </dsp:txXfrm>
    </dsp:sp>
    <dsp:sp modelId="{1558A902-2D78-2144-9FAA-62744DCC298E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22B1F039-0017-A546-968D-EE4D345142D0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Summary of the Key Features &amp; Modules</a:t>
          </a:r>
          <a:endParaRPr lang="en-US" sz="2900" kern="1200" dirty="0"/>
        </a:p>
      </dsp:txBody>
      <dsp:txXfrm>
        <a:off x="3740534" y="5979"/>
        <a:ext cx="3034531" cy="1820718"/>
      </dsp:txXfrm>
    </dsp:sp>
    <dsp:sp modelId="{F6845D86-A0F2-5C48-99B8-89D83A2E249E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67B83251-8BB9-9A40-8F7D-CEC6A0051333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GRC Wireframe Architecture</a:t>
          </a:r>
          <a:endParaRPr lang="en-US" sz="2900" kern="1200" dirty="0"/>
        </a:p>
      </dsp:txBody>
      <dsp:txXfrm>
        <a:off x="7473007" y="5979"/>
        <a:ext cx="3034531" cy="1820718"/>
      </dsp:txXfrm>
    </dsp:sp>
    <dsp:sp modelId="{C1A1BC24-C898-D84C-B9EC-66016EDB7FE5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435B56FF-FC47-1144-B94F-2F0103C43673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Mock Views of the GRC Platform</a:t>
          </a:r>
          <a:endParaRPr lang="en-US" sz="2900" kern="1200" dirty="0"/>
        </a:p>
      </dsp:txBody>
      <dsp:txXfrm>
        <a:off x="8061" y="2524640"/>
        <a:ext cx="3034531" cy="1820718"/>
      </dsp:txXfrm>
    </dsp:sp>
    <dsp:sp modelId="{39A6EAB9-4622-794D-AFB0-A2554FD135AD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ACE828AA-BB41-4648-B446-8D1A87E79A7E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Key Considerations </a:t>
          </a:r>
          <a:endParaRPr lang="en-US" sz="2900" kern="1200" dirty="0"/>
        </a:p>
      </dsp:txBody>
      <dsp:txXfrm>
        <a:off x="3740534" y="2524640"/>
        <a:ext cx="3034531" cy="1820718"/>
      </dsp:txXfrm>
    </dsp:sp>
    <dsp:sp modelId="{9E88EFC7-DE0B-5A44-A989-D10A262172C8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/>
            <a:t>Implementation Details</a:t>
          </a:r>
          <a:endParaRPr lang="en-US" sz="2900" kern="1200"/>
        </a:p>
      </dsp:txBody>
      <dsp:txXfrm>
        <a:off x="7473007" y="2524640"/>
        <a:ext cx="3034531" cy="1820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FF4564-8CF8-4317-A351-3A471FA7F4F2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DC773-9CB2-4901-94EB-9FAECC1A8440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111C5F-4109-45A1-83F5-E694C5836FE6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Proactive measures </a:t>
          </a:r>
          <a:r>
            <a:rPr lang="en-US" sz="2100" kern="1200"/>
            <a:t>cover various aspects from governance to risk management, cybersecurity awareness, and the numerous cybersecurity measures to protect the service providers’ IT and OT assets. </a:t>
          </a:r>
        </a:p>
      </dsp:txBody>
      <dsp:txXfrm>
        <a:off x="1435590" y="531"/>
        <a:ext cx="9080009" cy="1242935"/>
      </dsp:txXfrm>
    </dsp:sp>
    <dsp:sp modelId="{9270151E-9F4B-4F7E-9510-6D3087F27EAB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4C4613-0091-4714-BF8D-3AACF06F64A2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8957C-CD0D-4A78-8A90-8032065440CC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Cyber resilience (reactive) </a:t>
          </a:r>
          <a:r>
            <a:rPr lang="en-US" sz="2100" kern="1200"/>
            <a:t>measures include the ability to detect, respond to, and recover from cybersecurity incidents. </a:t>
          </a:r>
        </a:p>
      </dsp:txBody>
      <dsp:txXfrm>
        <a:off x="1435590" y="1554201"/>
        <a:ext cx="9080009" cy="1242935"/>
      </dsp:txXfrm>
    </dsp:sp>
    <dsp:sp modelId="{72F67B13-A5B6-4ABF-8069-38A933090C69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0964E-07EC-4173-9820-4A8FEDAF5F86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CF437-1CEC-4125-9A5B-D2DB698371D5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Uniform Implementation</a:t>
          </a:r>
          <a:r>
            <a:rPr lang="en-US" sz="2100" kern="1200" dirty="0"/>
            <a:t>: The framework also specifies guidelines to ensure standards are implemented in a uniform manner</a:t>
          </a:r>
          <a:r>
            <a:rPr lang="en-NG" sz="2100" kern="1200" dirty="0"/>
            <a:t> </a:t>
          </a:r>
          <a:endParaRPr lang="en-US" sz="2100" kern="1200" dirty="0"/>
        </a:p>
      </dsp:txBody>
      <dsp:txXfrm>
        <a:off x="1435590" y="3107870"/>
        <a:ext cx="9080009" cy="12429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E4EAB-013F-A94D-B818-D867310084E9}">
      <dsp:nvSpPr>
        <dsp:cNvPr id="0" name=""/>
        <dsp:cNvSpPr/>
      </dsp:nvSpPr>
      <dsp:spPr>
        <a:xfrm>
          <a:off x="0" y="88967"/>
          <a:ext cx="106918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100" b="1" kern="1200"/>
            <a:t>Governance &amp; Compliance (GC): </a:t>
          </a:r>
          <a:endParaRPr lang="en-US" sz="2100" kern="1200"/>
        </a:p>
      </dsp:txBody>
      <dsp:txXfrm>
        <a:off x="25188" y="114155"/>
        <a:ext cx="10641437" cy="465594"/>
      </dsp:txXfrm>
    </dsp:sp>
    <dsp:sp modelId="{2F82B047-D58F-5E41-903E-28A6D15162E7}">
      <dsp:nvSpPr>
        <dsp:cNvPr id="0" name=""/>
        <dsp:cNvSpPr/>
      </dsp:nvSpPr>
      <dsp:spPr>
        <a:xfrm>
          <a:off x="0" y="604937"/>
          <a:ext cx="10691813" cy="510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46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600" kern="1200"/>
            <a:t>Implementation of governance policies, designate cybersecurity leadership, and comply with regulations and national laws.</a:t>
          </a:r>
          <a:endParaRPr lang="en-US" sz="1600" kern="1200"/>
        </a:p>
      </dsp:txBody>
      <dsp:txXfrm>
        <a:off x="0" y="604937"/>
        <a:ext cx="10691813" cy="510772"/>
      </dsp:txXfrm>
    </dsp:sp>
    <dsp:sp modelId="{504731B8-F125-CE44-B510-FCEF08DCBE80}">
      <dsp:nvSpPr>
        <dsp:cNvPr id="0" name=""/>
        <dsp:cNvSpPr/>
      </dsp:nvSpPr>
      <dsp:spPr>
        <a:xfrm>
          <a:off x="0" y="1115710"/>
          <a:ext cx="106918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100" b="1" kern="1200"/>
            <a:t>Risk Management: </a:t>
          </a:r>
          <a:endParaRPr lang="en-US" sz="2100" kern="1200"/>
        </a:p>
      </dsp:txBody>
      <dsp:txXfrm>
        <a:off x="25188" y="1140898"/>
        <a:ext cx="10641437" cy="465594"/>
      </dsp:txXfrm>
    </dsp:sp>
    <dsp:sp modelId="{26ACAD9C-B221-0742-A1DD-97AACF41F24B}">
      <dsp:nvSpPr>
        <dsp:cNvPr id="0" name=""/>
        <dsp:cNvSpPr/>
      </dsp:nvSpPr>
      <dsp:spPr>
        <a:xfrm>
          <a:off x="0" y="1631680"/>
          <a:ext cx="10691813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46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600" kern="1200"/>
            <a:t>Asset management, threat analyses, situational awareness, and information sharing.</a:t>
          </a:r>
          <a:endParaRPr lang="en-US" sz="1600" kern="1200"/>
        </a:p>
      </dsp:txBody>
      <dsp:txXfrm>
        <a:off x="0" y="1631680"/>
        <a:ext cx="10691813" cy="347760"/>
      </dsp:txXfrm>
    </dsp:sp>
    <dsp:sp modelId="{1F6AE1E7-14A5-3E41-8E79-2B9615CADF2A}">
      <dsp:nvSpPr>
        <dsp:cNvPr id="0" name=""/>
        <dsp:cNvSpPr/>
      </dsp:nvSpPr>
      <dsp:spPr>
        <a:xfrm>
          <a:off x="0" y="1979440"/>
          <a:ext cx="106918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100" b="1" kern="1200"/>
            <a:t>Cybersecurity Posture: </a:t>
          </a:r>
          <a:endParaRPr lang="en-US" sz="2100" kern="1200"/>
        </a:p>
      </dsp:txBody>
      <dsp:txXfrm>
        <a:off x="25188" y="2004628"/>
        <a:ext cx="10641437" cy="465594"/>
      </dsp:txXfrm>
    </dsp:sp>
    <dsp:sp modelId="{E2ACDE41-857D-434D-924E-EF103FB39A4A}">
      <dsp:nvSpPr>
        <dsp:cNvPr id="0" name=""/>
        <dsp:cNvSpPr/>
      </dsp:nvSpPr>
      <dsp:spPr>
        <a:xfrm>
          <a:off x="0" y="2495410"/>
          <a:ext cx="10691813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46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600" kern="1200"/>
            <a:t>Technical and organisational protective measures securing digital assets.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600" kern="1200"/>
            <a:t>Includes data protection, access controls, network security, cyber hygiene, and third-party risk management.</a:t>
          </a:r>
          <a:endParaRPr lang="en-US" sz="1600" kern="1200"/>
        </a:p>
      </dsp:txBody>
      <dsp:txXfrm>
        <a:off x="0" y="2495410"/>
        <a:ext cx="10691813" cy="554242"/>
      </dsp:txXfrm>
    </dsp:sp>
    <dsp:sp modelId="{84A4C3C0-738A-2F4D-BA88-A6F6418D2B4D}">
      <dsp:nvSpPr>
        <dsp:cNvPr id="0" name=""/>
        <dsp:cNvSpPr/>
      </dsp:nvSpPr>
      <dsp:spPr>
        <a:xfrm>
          <a:off x="0" y="3049652"/>
          <a:ext cx="106918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100" b="1" kern="1200"/>
            <a:t>Incident Response, Management &amp; Resilience: </a:t>
          </a:r>
          <a:endParaRPr lang="en-US" sz="2100" kern="1200"/>
        </a:p>
      </dsp:txBody>
      <dsp:txXfrm>
        <a:off x="25188" y="3074840"/>
        <a:ext cx="10641437" cy="465594"/>
      </dsp:txXfrm>
    </dsp:sp>
    <dsp:sp modelId="{7C45937E-2807-6849-B68C-0255C25596EE}">
      <dsp:nvSpPr>
        <dsp:cNvPr id="0" name=""/>
        <dsp:cNvSpPr/>
      </dsp:nvSpPr>
      <dsp:spPr>
        <a:xfrm>
          <a:off x="0" y="3565622"/>
          <a:ext cx="10691813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46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600" kern="1200"/>
            <a:t>Ensuring sector’s preparedness to detect, respond to, and recover from cyber incidents. 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600" kern="1200"/>
            <a:t>Key components include incident response planning, monitoring systems, and recovery mechanisms.</a:t>
          </a:r>
          <a:endParaRPr lang="en-US" sz="1600" kern="1200"/>
        </a:p>
      </dsp:txBody>
      <dsp:txXfrm>
        <a:off x="0" y="3565622"/>
        <a:ext cx="10691813" cy="554242"/>
      </dsp:txXfrm>
    </dsp:sp>
    <dsp:sp modelId="{46A1E7C8-C4CA-DC40-90B4-1F0574A617B0}">
      <dsp:nvSpPr>
        <dsp:cNvPr id="0" name=""/>
        <dsp:cNvSpPr/>
      </dsp:nvSpPr>
      <dsp:spPr>
        <a:xfrm>
          <a:off x="0" y="4119865"/>
          <a:ext cx="10691813" cy="515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NG" sz="2100" b="1" kern="1200"/>
            <a:t>Capacity Building &amp; Development: </a:t>
          </a:r>
          <a:endParaRPr lang="en-US" sz="2100" kern="1200"/>
        </a:p>
      </dsp:txBody>
      <dsp:txXfrm>
        <a:off x="25188" y="4145053"/>
        <a:ext cx="10641437" cy="465594"/>
      </dsp:txXfrm>
    </dsp:sp>
    <dsp:sp modelId="{F982171A-C33B-814B-A177-C98A8385AB06}">
      <dsp:nvSpPr>
        <dsp:cNvPr id="0" name=""/>
        <dsp:cNvSpPr/>
      </dsp:nvSpPr>
      <dsp:spPr>
        <a:xfrm>
          <a:off x="0" y="4635835"/>
          <a:ext cx="10691813" cy="5107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9465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NG" sz="1600" kern="1200"/>
            <a:t>Cybersecurity awareness, skill acquisition, talent development, research, and collaborative engagements among stakeholders.</a:t>
          </a:r>
          <a:endParaRPr lang="en-US" sz="1600" kern="1200"/>
        </a:p>
      </dsp:txBody>
      <dsp:txXfrm>
        <a:off x="0" y="4635835"/>
        <a:ext cx="10691813" cy="5107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F9953A-12A2-E245-9209-2F860466B320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CFC4F-F715-F641-97BE-4E9B97F44DC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20030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BBC85-4B15-84DD-1120-2160EC98D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C422AE-1F92-B18B-474C-E8E7D4931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DCB44-B1BB-B744-65FE-4A9C3E4E6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D449-40A2-1072-36D4-F0F8EBCE0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E0FD06-A407-4C57-2F62-EC3018B06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10828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07D2-9A33-3E09-FC13-7DBC660D0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BB754-A0A9-32AF-9036-1CB7FF78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6259B-2559-AB77-037C-2AE05FF7F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FC4C2-3471-EC6F-6EED-845BFEB9C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CFB5C-2CA1-21FD-9167-066DDC6B4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45052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0A5DF-6CA2-FF18-55F8-027D1EA4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E1470-72FE-4D62-490D-6D821789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6B7BF-AFD8-FDD1-34CC-C55F5B43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773BA-07A8-4D3A-58F7-739A06F2E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EDDEFE-952F-8BA4-1292-DFC937856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5068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2A424-0A04-D12C-F853-D87F7D6E1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13D71-2D4D-3DBF-F652-009C7DC83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FBBA8-BDA5-A51E-FCBC-724F807D5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F9B04-B2D7-91DA-3A9E-8073B52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949B1-FA89-1C71-B391-21D0B0AC9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2BC22-4583-59A1-E6AD-C5B8DDAFC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4738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14C49-B544-E950-A855-BE91CEB55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545BA-A76A-DCF8-4017-1D8803A97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294870-2F70-0C1D-EA3C-C8AC9E443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398943-9467-37B2-443F-784C83590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44320-D3F3-6AE1-A0BF-9A935D67B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100388-E78E-C134-DD17-1649E93B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1E422-D2F2-D011-9296-2D2D16882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BB29C2-80F8-75F5-4DB8-CDAEA5AE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34410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3F66-5FF3-E8AB-1FF0-C8D474715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C66BCE-0787-050D-D32D-8DAD38F6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9AB01B-0B3F-5C1F-71C6-674E82AB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219AE-970C-D2DA-35F9-406A13FB0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6142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356EA9-A510-EE44-FDF5-B76651FA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ADE069-3F50-3403-14CA-AFC3CC2F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35BE8-78F7-AD32-6984-81EFCF25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70014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61BC7-AB58-C53F-26BC-3F78CF047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FE901-78EB-BAD5-19AA-1E68BCCAA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FD187-C6BF-5C39-10C9-BEECECE45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DD0FC-C638-C4AC-546C-82DE8974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831E0-5B54-E1F4-A461-D513CD2E4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C677C-3D3A-6EB0-F296-B651DE089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6687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2B5E-B154-21A6-75B8-1363FE544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4433FE-72D3-024D-CA0F-AE67CE702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F24E6-6986-95A4-D373-7ACB471759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58F08-8DC0-97F9-F14A-F65B65B3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7FBB2D-02FE-A63A-F49D-6A37A4E05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10840-9AE6-2BED-32DE-98E4036A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805009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4573-CEE9-932C-1D9A-F1E37A1D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9A364-F944-5C52-AF17-C23A9D1F7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45CAC-62C8-6365-BEAB-E25E5C994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B58B7-381A-2896-0D7F-9FA192B3C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802D9-D1A0-AB6F-9889-C0EEA9EC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10605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26AEA2-5C44-5174-FAF3-16B48A105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D5336-AC9E-AF90-DF5A-5FADD8782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82B63-2771-91E7-C9A2-82138F4B5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36C2A-667E-25E0-1185-5A7B9F74B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84B75-0403-738F-72F7-06D107DE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2640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AB9D36-EC9B-3529-578E-2C0AD05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46E2E-ADA9-09E6-3AE5-ACD850E07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ECE56-4CC4-C2F4-D6ED-6DA91FE3F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5F9BD-F4F2-6445-8675-A5C65248B551}" type="datetimeFigureOut">
              <a:rPr lang="en-NG" smtClean="0"/>
              <a:t>04/06/2026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05C49-7E8F-0EE9-7F4F-788E52D4A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99055-7BC5-16EB-D279-D91011701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58B4D-7AD4-924F-AC07-5715F54247A6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9635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1D6E4-5881-CBAD-0C1D-0787490B6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 b="1" dirty="0"/>
              <a:t>Governance, Risk and Compliance (GRC) Platform</a:t>
            </a:r>
            <a:endParaRPr lang="en-NG" sz="48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FB4C3-EC83-3C6C-CDEC-9F8FBC8C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endParaRPr lang="en-NG" b="1">
              <a:solidFill>
                <a:srgbClr val="FFFFFF"/>
              </a:solidFill>
            </a:endParaRPr>
          </a:p>
          <a:p>
            <a:pPr algn="l"/>
            <a:r>
              <a:rPr lang="en-US">
                <a:solidFill>
                  <a:srgbClr val="FFFFFF"/>
                </a:solidFill>
              </a:rPr>
              <a:t>For monitoring and reporting compliance to </a:t>
            </a:r>
            <a:r>
              <a:rPr lang="en-NG" b="1">
                <a:solidFill>
                  <a:srgbClr val="FFFFFF"/>
                </a:solidFill>
              </a:rPr>
              <a:t>NCS-CRF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98845-BA0D-240A-25B2-DB8A013F7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907" y="1949245"/>
            <a:ext cx="5163022" cy="2581511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6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72252-1540-79E5-0848-86288014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Presentation Agenda</a:t>
            </a:r>
          </a:p>
        </p:txBody>
      </p:sp>
      <p:graphicFrame>
        <p:nvGraphicFramePr>
          <p:cNvPr id="40" name="Content Placeholder 3">
            <a:extLst>
              <a:ext uri="{FF2B5EF4-FFF2-40B4-BE49-F238E27FC236}">
                <a16:creationId xmlns:a16="http://schemas.microsoft.com/office/drawing/2014/main" id="{6A57E0FA-045C-E51A-5DD9-B2EB055244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2415941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6330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3C24E1-F77E-3C06-DFCD-54F897369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dirty="0">
                <a:solidFill>
                  <a:srgbClr val="FFFFFF"/>
                </a:solidFill>
              </a:rPr>
              <a:t>Overview of the NCF-CRF GRC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D896F-8D4D-D6F2-09C6-8F1DC65C3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GB" sz="2000" dirty="0"/>
              <a:t>The </a:t>
            </a:r>
            <a:r>
              <a:rPr lang="en-GB" sz="2000" u="sng" dirty="0"/>
              <a:t>multi-tenanted</a:t>
            </a:r>
            <a:r>
              <a:rPr lang="en-GB" sz="2000" dirty="0"/>
              <a:t> GRC platform will enable the NCC to have complete visibility of cyber risks and compliance with the </a:t>
            </a:r>
            <a:r>
              <a:rPr lang="en-GB" sz="2000" dirty="0" err="1"/>
              <a:t>Framewok</a:t>
            </a:r>
            <a:r>
              <a:rPr lang="en-GB" sz="2000" dirty="0"/>
              <a:t> across the sector</a:t>
            </a:r>
            <a:endParaRPr lang="en-NG" sz="2000" dirty="0"/>
          </a:p>
          <a:p>
            <a:pPr lvl="0"/>
            <a:r>
              <a:rPr lang="en-GB" sz="2000" dirty="0"/>
              <a:t>Enable service providers to automate workflows for risk, compliance, and audit of NCS-CRF standards</a:t>
            </a:r>
          </a:p>
          <a:p>
            <a:pPr lvl="0"/>
            <a:r>
              <a:rPr lang="en-GB" sz="2000" dirty="0"/>
              <a:t>Useful for NCC-CSIRT to manage it’s own GRC issues</a:t>
            </a:r>
            <a:endParaRPr lang="en-NG" sz="2000" dirty="0"/>
          </a:p>
          <a:p>
            <a:pPr lvl="0"/>
            <a:r>
              <a:rPr lang="en-GB" sz="2000" dirty="0"/>
              <a:t>Provide real-time insights and dashboards on the cyber resilience capabilities and maturity of service providers and the sector</a:t>
            </a:r>
            <a:r>
              <a:rPr lang="en-NG" sz="2000" dirty="0"/>
              <a:t>.</a:t>
            </a:r>
          </a:p>
          <a:p>
            <a:pPr lvl="0"/>
            <a:r>
              <a:rPr lang="en-GB" sz="2000" dirty="0"/>
              <a:t>Enhance efficiency in managing regulatory, legal, and operational requirements at</a:t>
            </a:r>
          </a:p>
          <a:p>
            <a:pPr lvl="1"/>
            <a:r>
              <a:rPr lang="en-GB" sz="2000" dirty="0"/>
              <a:t>Entity (service provider) level</a:t>
            </a:r>
          </a:p>
          <a:p>
            <a:pPr lvl="1"/>
            <a:r>
              <a:rPr lang="en-GB" sz="2000" dirty="0"/>
              <a:t>Sectoral level</a:t>
            </a:r>
            <a:endParaRPr lang="en-NG" sz="2000" dirty="0"/>
          </a:p>
        </p:txBody>
      </p:sp>
    </p:spTree>
    <p:extLst>
      <p:ext uri="{BB962C8B-B14F-4D97-AF65-F5344CB8AC3E}">
        <p14:creationId xmlns:p14="http://schemas.microsoft.com/office/powerpoint/2010/main" val="40267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E7579-F9BD-80EC-1BDA-C0B32F5A0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NG" sz="4800" dirty="0"/>
              <a:t>Key Success Criteria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9EC9-C79C-78EC-0FA3-CE70F7EFF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 fontScale="77500" lnSpcReduction="20000"/>
          </a:bodyPr>
          <a:lstStyle/>
          <a:p>
            <a:pPr lvl="0"/>
            <a:r>
              <a:rPr lang="en-NG" dirty="0"/>
              <a:t>Single </a:t>
            </a:r>
            <a:r>
              <a:rPr lang="en-NG" u="sng" dirty="0"/>
              <a:t>source of truth for risk </a:t>
            </a:r>
            <a:r>
              <a:rPr lang="en-NG" dirty="0"/>
              <a:t>and compliance across Service Provider (SP)  and Sectoral levels</a:t>
            </a:r>
          </a:p>
          <a:p>
            <a:pPr lvl="0"/>
            <a:r>
              <a:rPr lang="en-NG" dirty="0"/>
              <a:t>Measurable reduction in compliance reporting time for SP and NCC CSIRT to NCC management</a:t>
            </a:r>
          </a:p>
          <a:p>
            <a:pPr lvl="0"/>
            <a:r>
              <a:rPr lang="en-NG" dirty="0"/>
              <a:t>Improved audit readiness for SP and regulator oversight confidence.</a:t>
            </a:r>
          </a:p>
          <a:p>
            <a:pPr lvl="0"/>
            <a:r>
              <a:rPr lang="en-NG" dirty="0"/>
              <a:t>Ease of adoption and implementation of the CRF by SPs.</a:t>
            </a:r>
          </a:p>
          <a:p>
            <a:r>
              <a:rPr lang="en-NG" dirty="0"/>
              <a:t>Demonstrated ROI for service providers within 12–18 months</a:t>
            </a:r>
          </a:p>
          <a:p>
            <a:r>
              <a:rPr lang="en-NG" dirty="0"/>
              <a:t>Complete visibility of the cyber resilience of the Sector and CNII </a:t>
            </a:r>
          </a:p>
        </p:txBody>
      </p:sp>
    </p:spTree>
    <p:extLst>
      <p:ext uri="{BB962C8B-B14F-4D97-AF65-F5344CB8AC3E}">
        <p14:creationId xmlns:p14="http://schemas.microsoft.com/office/powerpoint/2010/main" val="251462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9B35D5-C6AF-314A-4A39-26D2D4D0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D4B0E-81E9-E617-F5DA-3ADB24B29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766" y="114641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Functional Features of the GRC Platform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92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2F7F0-B861-D42C-6C1B-F9AACF1F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>
                <a:solidFill>
                  <a:srgbClr val="FFFFFF"/>
                </a:solidFill>
              </a:rPr>
              <a:t>Compliance &amp; Standards Alignment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E2D5-4CA4-E581-A0AF-D19A50C99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sz="2000" dirty="0"/>
              <a:t>The platform is built to support the NCS-CRF. However, it can also be used by SPs and NCC report compliance with other frameworks/standards like:</a:t>
            </a:r>
          </a:p>
          <a:p>
            <a:pPr lvl="1"/>
            <a:endParaRPr lang="en-NG" sz="2000" dirty="0"/>
          </a:p>
          <a:p>
            <a:pPr marL="457200" lvl="1" indent="0">
              <a:buNone/>
            </a:pPr>
            <a:endParaRPr lang="en-NG" sz="2000" dirty="0"/>
          </a:p>
          <a:p>
            <a:pPr lvl="1"/>
            <a:r>
              <a:rPr lang="en-NG" sz="2000" dirty="0"/>
              <a:t>NDPA</a:t>
            </a:r>
          </a:p>
          <a:p>
            <a:pPr lvl="1"/>
            <a:r>
              <a:rPr lang="en-NG" sz="2000" dirty="0"/>
              <a:t>NCPS</a:t>
            </a:r>
          </a:p>
          <a:p>
            <a:pPr lvl="1"/>
            <a:r>
              <a:rPr lang="en-NG" sz="2000" dirty="0"/>
              <a:t>ISO 27001</a:t>
            </a:r>
          </a:p>
          <a:p>
            <a:pPr lvl="1"/>
            <a:r>
              <a:rPr lang="en-NG" sz="2000" dirty="0"/>
              <a:t>NIST Cybersecurity Framework</a:t>
            </a:r>
          </a:p>
          <a:p>
            <a:pPr lvl="1"/>
            <a:r>
              <a:rPr lang="en-NG" sz="2000" dirty="0"/>
              <a:t>PCI DSS</a:t>
            </a:r>
          </a:p>
          <a:p>
            <a:pPr lvl="1"/>
            <a:r>
              <a:rPr lang="en-NG" sz="2000" dirty="0"/>
              <a:t>Other international frameworks</a:t>
            </a:r>
          </a:p>
          <a:p>
            <a:pPr lvl="1"/>
            <a:r>
              <a:rPr lang="en-NG" sz="2000" dirty="0"/>
              <a:t>Custom frameworks (ICOP, Code of Corporate Governance etc)</a:t>
            </a:r>
          </a:p>
          <a:p>
            <a:endParaRPr lang="en-NG" sz="2000" dirty="0"/>
          </a:p>
        </p:txBody>
      </p:sp>
    </p:spTree>
    <p:extLst>
      <p:ext uri="{BB962C8B-B14F-4D97-AF65-F5344CB8AC3E}">
        <p14:creationId xmlns:p14="http://schemas.microsoft.com/office/powerpoint/2010/main" val="844389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89BDFB-FCFC-64DC-0BAF-103E16A86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>
                <a:solidFill>
                  <a:srgbClr val="FFFFFF"/>
                </a:solidFill>
              </a:rPr>
              <a:t>Risk Management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2745A-F550-2D59-F0F9-99012EA66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NG" sz="2000" dirty="0"/>
              <a:t>Provide a risk register with taxonomy support (strategic, operational, IT, third-party).</a:t>
            </a:r>
          </a:p>
          <a:p>
            <a:r>
              <a:rPr lang="en-NG" sz="2000" dirty="0"/>
              <a:t>Enables qualitative and quantitative risk assessments.</a:t>
            </a:r>
          </a:p>
          <a:p>
            <a:r>
              <a:rPr lang="en-GB" sz="2000" dirty="0"/>
              <a:t>Manage end-to-end risk assessments and treatment workflows</a:t>
            </a:r>
            <a:endParaRPr lang="en-NG" sz="2000" dirty="0"/>
          </a:p>
          <a:p>
            <a:r>
              <a:rPr lang="en-GB" sz="2000" dirty="0"/>
              <a:t>Enable the implementation of controls in a single platform</a:t>
            </a:r>
            <a:endParaRPr lang="en-NG" sz="2000" dirty="0"/>
          </a:p>
          <a:p>
            <a:r>
              <a:rPr lang="en-NG" sz="2000" dirty="0"/>
              <a:t>Provide Key Risk Indicators (KRIs) with thresholds and alerts.</a:t>
            </a:r>
          </a:p>
          <a:p>
            <a:r>
              <a:rPr lang="en-NG" sz="2000" dirty="0"/>
              <a:t>Provide a risk appetite framework and risk heatmaps.</a:t>
            </a:r>
          </a:p>
          <a:p>
            <a:r>
              <a:rPr lang="en-NG" sz="2000" dirty="0"/>
              <a:t>Enable scenario planning and stress testing of the service provider’s cyber resilience.</a:t>
            </a:r>
          </a:p>
          <a:p>
            <a:endParaRPr lang="en-NG" sz="2000" dirty="0"/>
          </a:p>
        </p:txBody>
      </p:sp>
    </p:spTree>
    <p:extLst>
      <p:ext uri="{BB962C8B-B14F-4D97-AF65-F5344CB8AC3E}">
        <p14:creationId xmlns:p14="http://schemas.microsoft.com/office/powerpoint/2010/main" val="3804979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86D5C4-78AB-29CB-4615-26441FDC1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 dirty="0">
                <a:solidFill>
                  <a:srgbClr val="FFFFFF"/>
                </a:solidFill>
              </a:rPr>
              <a:t>Compliance Management</a:t>
            </a:r>
            <a:endParaRPr lang="en-NG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4F77E-ED51-56AC-BBE8-0354B0F46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NG" sz="2000" dirty="0"/>
              <a:t>Repository of regulations, standards, and frameworks.</a:t>
            </a:r>
          </a:p>
          <a:p>
            <a:r>
              <a:rPr lang="en-NG" sz="2000" dirty="0"/>
              <a:t>Control mapping and smart mapping across multiple frameworks.</a:t>
            </a:r>
          </a:p>
          <a:p>
            <a:r>
              <a:rPr lang="en-NG" sz="2000" dirty="0"/>
              <a:t>Regulatory change tracking and impact assessment.</a:t>
            </a:r>
          </a:p>
          <a:p>
            <a:r>
              <a:rPr lang="en-NG" sz="2000" dirty="0"/>
              <a:t>Automated and customised compliance assessments and attestations </a:t>
            </a:r>
          </a:p>
          <a:p>
            <a:r>
              <a:rPr lang="en-NG" sz="2000" dirty="0"/>
              <a:t>Create tests that continuously monitor existing or custom controls</a:t>
            </a:r>
          </a:p>
        </p:txBody>
      </p:sp>
    </p:spTree>
    <p:extLst>
      <p:ext uri="{BB962C8B-B14F-4D97-AF65-F5344CB8AC3E}">
        <p14:creationId xmlns:p14="http://schemas.microsoft.com/office/powerpoint/2010/main" val="428085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EFEB5-1BE3-EB6F-5639-F34878D68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>
                <a:solidFill>
                  <a:srgbClr val="FFFFFF"/>
                </a:solidFill>
              </a:rPr>
              <a:t>Audit Management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5AC7C-7708-7BB9-F1FC-344B73DBE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NG" sz="2000" dirty="0"/>
              <a:t>Audit planning and scheduling to enable streamlining </a:t>
            </a:r>
            <a:r>
              <a:rPr lang="en-NG" sz="2000" b="1" dirty="0"/>
              <a:t>the audit process</a:t>
            </a:r>
            <a:r>
              <a:rPr lang="en-NG" sz="2000" dirty="0"/>
              <a:t> to ensure auditors have a clear understanding of the test, its evaluation criteria, and the data used for validation</a:t>
            </a:r>
          </a:p>
          <a:p>
            <a:r>
              <a:rPr lang="en-NG" sz="2000" dirty="0"/>
              <a:t>Evidence collection automation</a:t>
            </a:r>
          </a:p>
          <a:p>
            <a:r>
              <a:rPr lang="en-GB" sz="2000" dirty="0"/>
              <a:t>Solution for monitoring and collecting endpoint configuration evidence</a:t>
            </a:r>
            <a:endParaRPr lang="en-NG" sz="2000" dirty="0"/>
          </a:p>
          <a:p>
            <a:r>
              <a:rPr lang="en-NG" sz="2000" dirty="0"/>
              <a:t>Workpaper management with version control.</a:t>
            </a:r>
          </a:p>
          <a:p>
            <a:r>
              <a:rPr lang="en-NG" sz="2000" dirty="0"/>
              <a:t>Findings management and remediation tracking.</a:t>
            </a:r>
          </a:p>
          <a:p>
            <a:r>
              <a:rPr lang="en-NG" sz="2000" dirty="0"/>
              <a:t>Reporting for audit committees, the board, and regulators</a:t>
            </a:r>
          </a:p>
        </p:txBody>
      </p:sp>
    </p:spTree>
    <p:extLst>
      <p:ext uri="{BB962C8B-B14F-4D97-AF65-F5344CB8AC3E}">
        <p14:creationId xmlns:p14="http://schemas.microsoft.com/office/powerpoint/2010/main" val="3797572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ADC97-A9AE-B797-8EFA-2EB4608D8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>
                <a:solidFill>
                  <a:srgbClr val="FFFFFF"/>
                </a:solidFill>
              </a:rPr>
              <a:t>Third-Party Risk Management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7AFAE-2B09-6970-30AC-9DF8DB72A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NG" sz="2000"/>
              <a:t>Vendor onboarding and due diligence workflows.</a:t>
            </a:r>
          </a:p>
          <a:p>
            <a:r>
              <a:rPr lang="en-NG" sz="2000"/>
              <a:t>Third-party risk assessment questionnaires with agentic AI to collect vendor documents, review them against set criteria, flag gaps, and follow up (Paid add-on)</a:t>
            </a:r>
          </a:p>
          <a:p>
            <a:r>
              <a:rPr lang="en-NG" sz="2000"/>
              <a:t>Derive the third-party impact rating or integration with external vendor risk rating services.</a:t>
            </a:r>
          </a:p>
          <a:p>
            <a:r>
              <a:rPr lang="en-NG" sz="2000"/>
              <a:t>Continuous monitoring of supplier risks as part of the service provider’s risk register</a:t>
            </a:r>
          </a:p>
          <a:p>
            <a:r>
              <a:rPr lang="en-NG" sz="2000"/>
              <a:t>Contract repository and compliance tracking, as well as reports to management of service providers</a:t>
            </a:r>
          </a:p>
        </p:txBody>
      </p:sp>
    </p:spTree>
    <p:extLst>
      <p:ext uri="{BB962C8B-B14F-4D97-AF65-F5344CB8AC3E}">
        <p14:creationId xmlns:p14="http://schemas.microsoft.com/office/powerpoint/2010/main" val="75428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04F8B9-79FC-339B-38F4-6C53E3683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>
                <a:solidFill>
                  <a:srgbClr val="FFFFFF"/>
                </a:solidFill>
              </a:rPr>
              <a:t>Incident &amp; Issue Management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3F8DD-8350-C6B6-C660-B1C453F42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NG" sz="2000" dirty="0"/>
              <a:t>Centralized incident capture and categorization.</a:t>
            </a:r>
          </a:p>
          <a:p>
            <a:r>
              <a:rPr lang="en-NG" sz="2000" dirty="0"/>
              <a:t>Root Cause Analysis and Corrective Action Plans.</a:t>
            </a:r>
          </a:p>
          <a:p>
            <a:r>
              <a:rPr lang="en-NG" sz="2000" dirty="0"/>
              <a:t>Linkage of incidents to risks, controls, and compliance requirements.</a:t>
            </a:r>
          </a:p>
          <a:p>
            <a:r>
              <a:rPr lang="en-NG" sz="2000" dirty="0"/>
              <a:t>Automated escalation and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650104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2FBD41-F921-8502-5078-5C60640EA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>
                <a:solidFill>
                  <a:srgbClr val="FFFFFF"/>
                </a:solidFill>
              </a:rPr>
              <a:t>Policy Management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5CAC2-9543-8D16-9F33-25207977F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NG" sz="2000"/>
              <a:t>Policy lifecycle management (draft, review, approve, distribute, acknowledge).</a:t>
            </a:r>
          </a:p>
          <a:p>
            <a:r>
              <a:rPr lang="en-NG" sz="2000"/>
              <a:t>Repository of policy templates to aid the compliance programme.</a:t>
            </a:r>
          </a:p>
          <a:p>
            <a:r>
              <a:rPr lang="en-NG" sz="2000"/>
              <a:t>Archive out-of-scope policies</a:t>
            </a:r>
          </a:p>
          <a:p>
            <a:r>
              <a:rPr lang="en-NG" sz="2000"/>
              <a:t>Build custom policy templates</a:t>
            </a:r>
          </a:p>
          <a:p>
            <a:r>
              <a:rPr lang="en-NG" sz="2000"/>
              <a:t>Automation of asset collection by importing assets from spreadsheets, cloud repositories, API stacks, etc</a:t>
            </a:r>
          </a:p>
        </p:txBody>
      </p:sp>
    </p:spTree>
    <p:extLst>
      <p:ext uri="{BB962C8B-B14F-4D97-AF65-F5344CB8AC3E}">
        <p14:creationId xmlns:p14="http://schemas.microsoft.com/office/powerpoint/2010/main" val="4106650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128517-7A4D-E672-DC58-07B487C66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>
                <a:solidFill>
                  <a:srgbClr val="FFFFFF"/>
                </a:solidFill>
              </a:rPr>
              <a:t>Reporting &amp; Analytics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87FD-832C-3F2A-9A81-D83CA15F7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NG" sz="2000"/>
              <a:t>Real-time dashboards for executives and operational teams.</a:t>
            </a:r>
          </a:p>
          <a:p>
            <a:r>
              <a:rPr lang="en-NG" sz="2000"/>
              <a:t>Risk and compliance heatmaps.</a:t>
            </a:r>
          </a:p>
          <a:p>
            <a:r>
              <a:rPr lang="en-NG" sz="2000"/>
              <a:t>Automated board and regulator-defined reports.</a:t>
            </a:r>
          </a:p>
          <a:p>
            <a:r>
              <a:rPr lang="en-NG" sz="2000"/>
              <a:t>Predictive analytics and AI-driven insights (Paid ad-on)</a:t>
            </a:r>
          </a:p>
        </p:txBody>
      </p:sp>
    </p:spTree>
    <p:extLst>
      <p:ext uri="{BB962C8B-B14F-4D97-AF65-F5344CB8AC3E}">
        <p14:creationId xmlns:p14="http://schemas.microsoft.com/office/powerpoint/2010/main" val="2475233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9C457-1543-06BF-1460-AB7D33C0C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766" y="1146412"/>
            <a:ext cx="9014348" cy="240200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NON FUNCTIONAL FEATURES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4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B30288-D3F0-EBC9-BAB6-0090F5D92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>
                <a:solidFill>
                  <a:srgbClr val="FFFFFF"/>
                </a:solidFill>
              </a:rPr>
              <a:t>Key Non Functional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A50E-483B-3D8C-D06A-F4A1D6D88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sz="2000" b="1" dirty="0"/>
              <a:t>Security</a:t>
            </a:r>
            <a:endParaRPr lang="en-NG" sz="2000" dirty="0"/>
          </a:p>
          <a:p>
            <a:pPr lvl="0"/>
            <a:r>
              <a:rPr lang="en-NG" sz="2000" b="1" dirty="0"/>
              <a:t>Role-Based Access Control (RBAC)</a:t>
            </a:r>
            <a:endParaRPr lang="en-NG" sz="2000" dirty="0"/>
          </a:p>
          <a:p>
            <a:pPr lvl="1"/>
            <a:r>
              <a:rPr lang="en-NG" sz="2000" dirty="0"/>
              <a:t>Granular user permissions</a:t>
            </a:r>
          </a:p>
          <a:p>
            <a:pPr lvl="1"/>
            <a:r>
              <a:rPr lang="en-NG" sz="2000" dirty="0"/>
              <a:t>Segregation of duties</a:t>
            </a:r>
          </a:p>
          <a:p>
            <a:pPr lvl="0"/>
            <a:r>
              <a:rPr lang="en-NG" sz="2000" b="1" dirty="0"/>
              <a:t>Data Encryption &amp; Privacy</a:t>
            </a:r>
            <a:endParaRPr lang="en-NG" sz="2000" dirty="0"/>
          </a:p>
          <a:p>
            <a:pPr lvl="1"/>
            <a:r>
              <a:rPr lang="en-NG" sz="2000" dirty="0"/>
              <a:t>Encryption in transit and at rest</a:t>
            </a:r>
          </a:p>
          <a:p>
            <a:pPr lvl="1"/>
            <a:r>
              <a:rPr lang="en-NG" sz="2000" dirty="0"/>
              <a:t>Compliance with data privacy laws (e.g., GDPR, NDPA)</a:t>
            </a:r>
          </a:p>
          <a:p>
            <a:pPr lvl="0"/>
            <a:r>
              <a:rPr lang="en-NG" sz="2000" b="1" dirty="0"/>
              <a:t>Audit Trails &amp; Logs</a:t>
            </a:r>
            <a:endParaRPr lang="en-NG" sz="2000" dirty="0"/>
          </a:p>
          <a:p>
            <a:pPr lvl="1"/>
            <a:r>
              <a:rPr lang="en-NG" sz="2000" dirty="0"/>
              <a:t>Comprehensive user activity logging</a:t>
            </a:r>
          </a:p>
          <a:p>
            <a:pPr lvl="1"/>
            <a:r>
              <a:rPr lang="en-NG" sz="2000" dirty="0"/>
              <a:t>Tamper-proof records for compliance verification</a:t>
            </a:r>
          </a:p>
        </p:txBody>
      </p:sp>
    </p:spTree>
    <p:extLst>
      <p:ext uri="{BB962C8B-B14F-4D97-AF65-F5344CB8AC3E}">
        <p14:creationId xmlns:p14="http://schemas.microsoft.com/office/powerpoint/2010/main" val="3280472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564CA-40DE-5CC6-3BF3-8F875A8C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>
                <a:solidFill>
                  <a:srgbClr val="FFFFFF"/>
                </a:solidFill>
              </a:rPr>
              <a:t>Key Non Functional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80E5F-852A-960E-E804-AA6CC06E7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sz="2000" b="1" dirty="0"/>
              <a:t>Performance &amp; Scalability</a:t>
            </a:r>
            <a:endParaRPr lang="en-NG" sz="2000" dirty="0"/>
          </a:p>
          <a:p>
            <a:pPr lvl="1"/>
            <a:r>
              <a:rPr lang="en-NG" sz="2000"/>
              <a:t>A cloud-based SaaS solution, on-premises option may be considered.</a:t>
            </a:r>
          </a:p>
          <a:p>
            <a:pPr lvl="1"/>
            <a:r>
              <a:rPr lang="en-NG" sz="2000" dirty="0"/>
              <a:t>Global scale (multi-timezone, multi-currency).</a:t>
            </a:r>
          </a:p>
          <a:p>
            <a:pPr lvl="1"/>
            <a:r>
              <a:rPr lang="en-NG" sz="2000" dirty="0"/>
              <a:t>High availability (99.9% uptime SLA).</a:t>
            </a:r>
          </a:p>
          <a:p>
            <a:endParaRPr lang="en-NG" sz="2000" dirty="0"/>
          </a:p>
          <a:p>
            <a:pPr marL="0" indent="0">
              <a:buNone/>
            </a:pPr>
            <a:r>
              <a:rPr lang="en-NG" sz="2000" b="1" dirty="0"/>
              <a:t>Usability</a:t>
            </a:r>
            <a:endParaRPr lang="en-NG" sz="2000" dirty="0"/>
          </a:p>
          <a:p>
            <a:pPr lvl="1"/>
            <a:r>
              <a:rPr lang="en-NG" sz="2000" dirty="0"/>
              <a:t>Intuitive and modern User Interface/User Experience.</a:t>
            </a:r>
          </a:p>
          <a:p>
            <a:pPr lvl="1"/>
            <a:r>
              <a:rPr lang="en-NG" sz="2000" dirty="0"/>
              <a:t>Configurable dashboards for different user roles.</a:t>
            </a:r>
          </a:p>
          <a:p>
            <a:pPr lvl="1"/>
            <a:r>
              <a:rPr lang="en-NG" sz="2000" dirty="0"/>
              <a:t>Mobile-friendly access </a:t>
            </a:r>
          </a:p>
          <a:p>
            <a:endParaRPr lang="en-NG" sz="2000" dirty="0"/>
          </a:p>
        </p:txBody>
      </p:sp>
    </p:spTree>
    <p:extLst>
      <p:ext uri="{BB962C8B-B14F-4D97-AF65-F5344CB8AC3E}">
        <p14:creationId xmlns:p14="http://schemas.microsoft.com/office/powerpoint/2010/main" val="649501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A1FBAE-8778-C0F9-C311-20D508B4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>
                <a:solidFill>
                  <a:srgbClr val="FFFFFF"/>
                </a:solidFill>
              </a:rPr>
              <a:t>Key Non Functional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C7D66-D795-D511-B4E2-4D8ABDA28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G" sz="2000" b="1"/>
              <a:t>Advanced Capabilities (Optional, for a fee)</a:t>
            </a:r>
            <a:endParaRPr lang="en-NG" sz="2000"/>
          </a:p>
          <a:p>
            <a:pPr lvl="1"/>
            <a:r>
              <a:rPr lang="en-NG" sz="2000"/>
              <a:t>AI/ML for risk prediction, anomaly detection, and remediation suggestions.</a:t>
            </a:r>
          </a:p>
          <a:p>
            <a:pPr lvl="1"/>
            <a:r>
              <a:rPr lang="en-NG" sz="2000"/>
              <a:t>Natural Language Processing (NLP) for regulatory text analysis.</a:t>
            </a:r>
          </a:p>
          <a:p>
            <a:pPr lvl="1"/>
            <a:r>
              <a:rPr lang="en-NG" sz="2000"/>
              <a:t>Continuous Control Monitoring (CCM).</a:t>
            </a:r>
          </a:p>
          <a:p>
            <a:pPr lvl="1"/>
            <a:r>
              <a:rPr lang="en-NG" sz="2000"/>
              <a:t>Low-code/no-code workflow customization </a:t>
            </a:r>
          </a:p>
        </p:txBody>
      </p:sp>
    </p:spTree>
    <p:extLst>
      <p:ext uri="{BB962C8B-B14F-4D97-AF65-F5344CB8AC3E}">
        <p14:creationId xmlns:p14="http://schemas.microsoft.com/office/powerpoint/2010/main" val="3413020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AAB7C6-A131-5153-6F90-80EB7E2A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3400" b="1">
                <a:solidFill>
                  <a:srgbClr val="FFFFFF"/>
                </a:solidFill>
              </a:rPr>
              <a:t>Integration &amp; Interoperability</a:t>
            </a:r>
            <a:endParaRPr lang="en-NG" sz="34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FC665-6C1D-A0A4-4D9D-0645C65F4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1"/>
            <a:r>
              <a:rPr lang="en-NG" sz="2000"/>
              <a:t>Open APIs for third-party integrations.</a:t>
            </a:r>
            <a:endParaRPr lang="en-NG" sz="2000" dirty="0"/>
          </a:p>
          <a:p>
            <a:pPr lvl="1"/>
            <a:r>
              <a:rPr lang="en-NG" sz="2000"/>
              <a:t>SSO integration with enterprise identity providers.</a:t>
            </a:r>
            <a:endParaRPr lang="en-NG" sz="2000" dirty="0"/>
          </a:p>
          <a:p>
            <a:pPr lvl="1"/>
            <a:r>
              <a:rPr lang="en-NG" sz="2000"/>
              <a:t>Connectors for ERP, HR, ITSM, SIEM, and IAM.</a:t>
            </a:r>
            <a:endParaRPr lang="en-NG" sz="2000" dirty="0"/>
          </a:p>
          <a:p>
            <a:pPr lvl="1"/>
            <a:r>
              <a:rPr lang="en-NG" sz="2000"/>
              <a:t>Integration with regulatory feeds for threat intel sharing </a:t>
            </a:r>
          </a:p>
          <a:p>
            <a:endParaRPr lang="en-NG" sz="2000"/>
          </a:p>
        </p:txBody>
      </p:sp>
    </p:spTree>
    <p:extLst>
      <p:ext uri="{BB962C8B-B14F-4D97-AF65-F5344CB8AC3E}">
        <p14:creationId xmlns:p14="http://schemas.microsoft.com/office/powerpoint/2010/main" val="2781831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840B08-4310-8BF3-7CD6-B8874A8F5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825248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Wireframe Architecture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document&#10;&#10;AI-generated content may be incorrect.">
            <a:extLst>
              <a:ext uri="{FF2B5EF4-FFF2-40B4-BE49-F238E27FC236}">
                <a16:creationId xmlns:a16="http://schemas.microsoft.com/office/drawing/2014/main" id="{C8B4AEA2-5E98-95A8-3A17-BF7E232D5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521" y="928201"/>
            <a:ext cx="2869943" cy="4926942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74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51572-9355-3C67-110B-FD868853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825248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Wireframe Architecture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EA9A941-001F-03E4-491D-3FE659B6C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871" y="928201"/>
            <a:ext cx="3153242" cy="4926942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2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2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Isosceles Triangle 2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85419A-EA05-9EC9-9C5B-B06586CE29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79"/>
          <a:stretch>
            <a:fillRect/>
          </a:stretch>
        </p:blipFill>
        <p:spPr>
          <a:xfrm>
            <a:off x="653766" y="643467"/>
            <a:ext cx="10884468" cy="5571065"/>
          </a:xfrm>
          <a:prstGeom prst="rect">
            <a:avLst/>
          </a:prstGeom>
          <a:ln>
            <a:noFill/>
          </a:ln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47" name="Isosceles Triangle 3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32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1D8088-559A-46A5-A801-CDF0B947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3E2E96F-17F7-4C8C-BDF1-6BB90A0C1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2380868"/>
            <a:ext cx="11982332" cy="2087795"/>
            <a:chOff x="143163" y="5763486"/>
            <a:chExt cx="11982332" cy="73955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6BD00C-9313-4A22-94F7-3875A46C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EAF30D0-AA67-427C-9938-A2C8A9B5D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26D827-1080-B73B-578E-AC0A02E45B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05" b="13459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76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DDB5BE-304B-CDBE-EC99-C9F2A928E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94" y="1676217"/>
            <a:ext cx="10103845" cy="4041538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CA205C4-A716-A305-2F50-2BF548D4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70" y="350654"/>
            <a:ext cx="10515600" cy="1325563"/>
          </a:xfrm>
        </p:spPr>
        <p:txBody>
          <a:bodyPr/>
          <a:lstStyle/>
          <a:p>
            <a:r>
              <a:rPr lang="en-NG" dirty="0"/>
              <a:t>On-boarding Template</a:t>
            </a:r>
          </a:p>
        </p:txBody>
      </p:sp>
    </p:spTree>
    <p:extLst>
      <p:ext uri="{BB962C8B-B14F-4D97-AF65-F5344CB8AC3E}">
        <p14:creationId xmlns:p14="http://schemas.microsoft.com/office/powerpoint/2010/main" val="2609423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1BE3FA7-0D70-4431-814F-D8C40576E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661077-262E-6410-AE93-604C57E9DB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60" r="17960" b="1"/>
          <a:stretch>
            <a:fillRect/>
          </a:stretch>
        </p:blipFill>
        <p:spPr>
          <a:xfrm>
            <a:off x="321731" y="557189"/>
            <a:ext cx="5668684" cy="57436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11FD44-AA38-6E8F-7A5F-B7945C28BF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53" r="-3" b="-3"/>
          <a:stretch>
            <a:fillRect/>
          </a:stretch>
        </p:blipFill>
        <p:spPr>
          <a:xfrm>
            <a:off x="6195375" y="557189"/>
            <a:ext cx="5674893" cy="5743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038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08EA17-7757-C543-E912-E3AA900B54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394" b="467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56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3FCC151-BF88-4907-8FBA-8016BF2F7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18" y="460998"/>
            <a:ext cx="11405378" cy="620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378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E23F9F-3AF6-478D-C640-B9E8B61DD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3700">
                <a:solidFill>
                  <a:srgbClr val="FFFFFF"/>
                </a:solidFill>
              </a:rPr>
              <a:t>Key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189F1-05EF-3E8B-2350-B982AA71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NG" sz="2000"/>
              <a:t>Sustainability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NG" sz="2000"/>
              <a:t>Paid or Free to SPs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NG" sz="2000"/>
              <a:t>SPs using it for other compliance and governance requirements</a:t>
            </a:r>
          </a:p>
          <a:p>
            <a:pPr marL="457200" lvl="1" indent="0">
              <a:buNone/>
            </a:pPr>
            <a:endParaRPr lang="en-NG" sz="2000"/>
          </a:p>
          <a:p>
            <a:pPr marL="514350" indent="-514350">
              <a:buFont typeface="+mj-lt"/>
              <a:buAutoNum type="arabicPeriod"/>
            </a:pPr>
            <a:r>
              <a:rPr lang="en-NG" sz="2000"/>
              <a:t>Deployment Mode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NG" sz="2000"/>
              <a:t>SaaS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NG" sz="2000"/>
              <a:t>On-prem</a:t>
            </a:r>
          </a:p>
          <a:p>
            <a:pPr marL="457200" lvl="1" indent="0">
              <a:buNone/>
            </a:pPr>
            <a:endParaRPr lang="en-NG" sz="2000"/>
          </a:p>
          <a:p>
            <a:pPr marL="514350" indent="-514350">
              <a:buFont typeface="+mj-lt"/>
              <a:buAutoNum type="arabicPeriod"/>
            </a:pPr>
            <a:r>
              <a:rPr lang="en-NG" sz="2000"/>
              <a:t>Monitoring &amp; Compliance</a:t>
            </a:r>
          </a:p>
          <a:p>
            <a:pPr lvl="1"/>
            <a:r>
              <a:rPr lang="en-NG" sz="2000" dirty="0"/>
              <a:t>A compliance and monitoring platfom (GRC) to ease compliance and monitoring by NCC</a:t>
            </a:r>
          </a:p>
          <a:p>
            <a:pPr lvl="1"/>
            <a:r>
              <a:rPr lang="en-NG" sz="2000" dirty="0"/>
              <a:t>NCC may sponsor the provision of same platform to enable service providers to report on audit and compliance (especially Tiers 2&amp;3)</a:t>
            </a:r>
          </a:p>
        </p:txBody>
      </p:sp>
    </p:spTree>
    <p:extLst>
      <p:ext uri="{BB962C8B-B14F-4D97-AF65-F5344CB8AC3E}">
        <p14:creationId xmlns:p14="http://schemas.microsoft.com/office/powerpoint/2010/main" val="32014868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6A26-7963-1D31-EBF8-EC70E6EF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dirty="0"/>
              <a:t>Subscription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7B5AA-5E57-26F9-4BEE-4794EA87B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G" u="sng" dirty="0"/>
              <a:t>Option 1</a:t>
            </a:r>
          </a:p>
          <a:p>
            <a:pPr lvl="1"/>
            <a:r>
              <a:rPr lang="en-NG" dirty="0"/>
              <a:t>NCC procures </a:t>
            </a:r>
            <a:r>
              <a:rPr lang="en-GB" dirty="0"/>
              <a:t>a bulk</a:t>
            </a:r>
            <a:r>
              <a:rPr lang="en-NG" dirty="0"/>
              <a:t> license sufficient to </a:t>
            </a:r>
            <a:r>
              <a:rPr lang="en-GB" dirty="0"/>
              <a:t>onboard</a:t>
            </a:r>
            <a:r>
              <a:rPr lang="en-NG" dirty="0"/>
              <a:t> all Service Providers only for the first year (</a:t>
            </a:r>
            <a:r>
              <a:rPr lang="en-NG" u="sng" dirty="0"/>
              <a:t>Option 1A</a:t>
            </a:r>
            <a:r>
              <a:rPr lang="en-NG" dirty="0"/>
              <a:t>) or on an </a:t>
            </a:r>
            <a:r>
              <a:rPr lang="en-GB" dirty="0"/>
              <a:t>ongoing</a:t>
            </a:r>
            <a:r>
              <a:rPr lang="en-NG" dirty="0"/>
              <a:t> basis (</a:t>
            </a:r>
            <a:r>
              <a:rPr lang="en-NG" u="sng" dirty="0"/>
              <a:t>Option 1B</a:t>
            </a:r>
            <a:r>
              <a:rPr lang="en-NG" dirty="0"/>
              <a:t>)</a:t>
            </a:r>
          </a:p>
          <a:p>
            <a:pPr lvl="1"/>
            <a:r>
              <a:rPr lang="en-NG" dirty="0"/>
              <a:t>NCC maintains the annual recurring license and </a:t>
            </a:r>
            <a:r>
              <a:rPr lang="en-GB" dirty="0"/>
              <a:t>maintenance</a:t>
            </a:r>
            <a:r>
              <a:rPr lang="en-NG" dirty="0"/>
              <a:t> costs </a:t>
            </a:r>
          </a:p>
          <a:p>
            <a:pPr lvl="1"/>
            <a:r>
              <a:rPr lang="en-NG" dirty="0"/>
              <a:t>This option allows </a:t>
            </a:r>
            <a:r>
              <a:rPr lang="en-NG" u="sng" dirty="0"/>
              <a:t>only</a:t>
            </a:r>
            <a:r>
              <a:rPr lang="en-NG" dirty="0"/>
              <a:t> the implementation of the CRF-NCS and no other framework</a:t>
            </a:r>
          </a:p>
          <a:p>
            <a:pPr lvl="1"/>
            <a:endParaRPr lang="en-NG" dirty="0"/>
          </a:p>
          <a:p>
            <a:r>
              <a:rPr lang="en-NG" u="sng" dirty="0"/>
              <a:t>Option 2</a:t>
            </a:r>
          </a:p>
          <a:p>
            <a:pPr lvl="1"/>
            <a:r>
              <a:rPr lang="en-NG" dirty="0"/>
              <a:t>NCC procures only the license for NCC-CSIRT to manage all SPs</a:t>
            </a:r>
          </a:p>
          <a:p>
            <a:pPr lvl="1"/>
            <a:r>
              <a:rPr lang="en-NG" dirty="0"/>
              <a:t>Service Providers procures own license based on need (only CRF-NCS or CRF-NCS plus other frameworks)</a:t>
            </a:r>
          </a:p>
          <a:p>
            <a:pPr lvl="1"/>
            <a:r>
              <a:rPr lang="en-NG" dirty="0"/>
              <a:t>SPs </a:t>
            </a:r>
            <a:r>
              <a:rPr lang="en-GB" dirty="0"/>
              <a:t>continue</a:t>
            </a:r>
            <a:r>
              <a:rPr lang="en-NG" dirty="0"/>
              <a:t> to renew </a:t>
            </a:r>
            <a:r>
              <a:rPr lang="en-GB" dirty="0"/>
              <a:t>their license</a:t>
            </a:r>
            <a:r>
              <a:rPr lang="en-NG" dirty="0"/>
              <a:t> on an </a:t>
            </a:r>
            <a:r>
              <a:rPr lang="en-GB" dirty="0"/>
              <a:t>ongoing</a:t>
            </a:r>
            <a:r>
              <a:rPr lang="en-NG" dirty="0"/>
              <a:t> basis</a:t>
            </a:r>
          </a:p>
          <a:p>
            <a:pPr lvl="1"/>
            <a:endParaRPr lang="en-NG" dirty="0"/>
          </a:p>
        </p:txBody>
      </p:sp>
    </p:spTree>
    <p:extLst>
      <p:ext uri="{BB962C8B-B14F-4D97-AF65-F5344CB8AC3E}">
        <p14:creationId xmlns:p14="http://schemas.microsoft.com/office/powerpoint/2010/main" val="12814453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0A55B-0FF5-E43F-D4DF-93139D4E7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 b="1">
                <a:solidFill>
                  <a:srgbClr val="FFFFFF"/>
                </a:solidFill>
              </a:rPr>
              <a:t>Deliverables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EE922-7604-13BE-9D3A-947219BEC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NG" sz="2000"/>
          </a:p>
          <a:p>
            <a:pPr lvl="0" fontAlgn="base"/>
            <a:r>
              <a:rPr lang="en-NG" sz="2000"/>
              <a:t>A GRC platform that is fully configured in line with the CRF-NCS and licensed to NCC.</a:t>
            </a:r>
          </a:p>
          <a:p>
            <a:pPr lvl="0" fontAlgn="base"/>
            <a:r>
              <a:rPr lang="en-NG" sz="2000"/>
              <a:t>Implementation Plan</a:t>
            </a:r>
          </a:p>
          <a:p>
            <a:pPr lvl="0" fontAlgn="base"/>
            <a:r>
              <a:rPr lang="en-NG" sz="2000"/>
              <a:t>Training Plan</a:t>
            </a:r>
          </a:p>
          <a:p>
            <a:pPr lvl="0" fontAlgn="base"/>
            <a:r>
              <a:rPr lang="en-NG" sz="2000"/>
              <a:t>Annual Maintenance Contract </a:t>
            </a:r>
          </a:p>
          <a:p>
            <a:pPr lvl="0" fontAlgn="base"/>
            <a:r>
              <a:rPr lang="en-NG" sz="2000"/>
              <a:t>Any other requirements to be specified by NCC in the signed scope of work</a:t>
            </a:r>
          </a:p>
          <a:p>
            <a:endParaRPr lang="en-NG" sz="2000"/>
          </a:p>
        </p:txBody>
      </p:sp>
    </p:spTree>
    <p:extLst>
      <p:ext uri="{BB962C8B-B14F-4D97-AF65-F5344CB8AC3E}">
        <p14:creationId xmlns:p14="http://schemas.microsoft.com/office/powerpoint/2010/main" val="3960436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32CFDE-E0D9-F006-F4CD-EFEAF6650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3400" b="1">
                <a:solidFill>
                  <a:srgbClr val="FFFFFF"/>
                </a:solidFill>
              </a:rPr>
              <a:t>Implementation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298C-8710-7522-508F-5671757D4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lvl="0"/>
            <a:r>
              <a:rPr lang="en-NG" sz="2000"/>
              <a:t>Vendor to provide professional services for deployment, migration, and training.</a:t>
            </a:r>
          </a:p>
          <a:p>
            <a:pPr lvl="0"/>
            <a:r>
              <a:rPr lang="en-NG" sz="2000"/>
              <a:t>Best-practice templates and accelerators will be included.</a:t>
            </a:r>
          </a:p>
          <a:p>
            <a:pPr lvl="0"/>
            <a:r>
              <a:rPr lang="en-NG" sz="2000"/>
              <a:t>Ongoing support (to be defined by SLA) for at least 24 months</a:t>
            </a:r>
          </a:p>
          <a:p>
            <a:pPr lvl="0"/>
            <a:r>
              <a:rPr lang="en-NG" sz="2000"/>
              <a:t>Regular updates reflecting regulatory and cybersecurity landscape changes.</a:t>
            </a:r>
          </a:p>
          <a:p>
            <a:pPr marL="0" indent="0">
              <a:buNone/>
            </a:pPr>
            <a:endParaRPr lang="en-NG" sz="2000"/>
          </a:p>
        </p:txBody>
      </p:sp>
    </p:spTree>
    <p:extLst>
      <p:ext uri="{BB962C8B-B14F-4D97-AF65-F5344CB8AC3E}">
        <p14:creationId xmlns:p14="http://schemas.microsoft.com/office/powerpoint/2010/main" val="1664170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B28DA3-99F5-1EAE-266D-B7196F68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NG" sz="4000" b="1">
                <a:solidFill>
                  <a:srgbClr val="FFFFFF"/>
                </a:solidFill>
              </a:rPr>
              <a:t>Project Duration </a:t>
            </a:r>
            <a:endParaRPr lang="en-NG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3BB6D-C45E-1951-022F-C60932C36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/>
              <a:t>The duration of the project shall be </a:t>
            </a:r>
            <a:r>
              <a:rPr lang="en-GB" sz="2000" b="1"/>
              <a:t>twelve (12) weeks</a:t>
            </a:r>
            <a:r>
              <a:rPr lang="en-GB" sz="2000"/>
              <a:t> from the date of contract execution</a:t>
            </a:r>
            <a:endParaRPr lang="en-NG" sz="2000"/>
          </a:p>
        </p:txBody>
      </p:sp>
    </p:spTree>
    <p:extLst>
      <p:ext uri="{BB962C8B-B14F-4D97-AF65-F5344CB8AC3E}">
        <p14:creationId xmlns:p14="http://schemas.microsoft.com/office/powerpoint/2010/main" val="625340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ABA71-E0B2-ADA9-9539-581FCC37C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NG" dirty="0"/>
              <a:t>Highlight of the Framework</a:t>
            </a:r>
          </a:p>
        </p:txBody>
      </p:sp>
    </p:spTree>
    <p:extLst>
      <p:ext uri="{BB962C8B-B14F-4D97-AF65-F5344CB8AC3E}">
        <p14:creationId xmlns:p14="http://schemas.microsoft.com/office/powerpoint/2010/main" val="17088936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5695282-8543-8ABA-22B8-44AC8D0E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054" y="846076"/>
            <a:ext cx="6177282" cy="1356337"/>
          </a:xfrm>
        </p:spPr>
        <p:txBody>
          <a:bodyPr anchor="b">
            <a:normAutofit/>
          </a:bodyPr>
          <a:lstStyle/>
          <a:p>
            <a:r>
              <a:rPr lang="en-NG" sz="4800" b="1" dirty="0">
                <a:solidFill>
                  <a:schemeClr val="bg1"/>
                </a:solidFill>
              </a:rPr>
              <a:t>FRAMEWORK MODEL</a:t>
            </a:r>
            <a:r>
              <a:rPr lang="en-NG" sz="4800" dirty="0">
                <a:solidFill>
                  <a:schemeClr val="bg1"/>
                </a:solidFill>
                <a:effectLst/>
              </a:rPr>
              <a:t> </a:t>
            </a:r>
            <a:endParaRPr lang="en-NG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661FF-E7A7-2C90-37C5-4024FEC8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566810"/>
            <a:ext cx="5692953" cy="2651110"/>
          </a:xfrm>
        </p:spPr>
        <p:txBody>
          <a:bodyPr anchor="ctr">
            <a:normAutofit lnSpcReduction="10000"/>
          </a:bodyPr>
          <a:lstStyle/>
          <a:p>
            <a:r>
              <a:rPr lang="en-NG" dirty="0">
                <a:solidFill>
                  <a:schemeClr val="tx2"/>
                </a:solidFill>
              </a:rPr>
              <a:t>The CRF-NCS is a </a:t>
            </a:r>
            <a:r>
              <a:rPr lang="en-NG" b="1" dirty="0">
                <a:solidFill>
                  <a:schemeClr val="tx2"/>
                </a:solidFill>
              </a:rPr>
              <a:t>process-focused, standards-based </a:t>
            </a:r>
            <a:r>
              <a:rPr lang="en-NG" dirty="0">
                <a:solidFill>
                  <a:schemeClr val="tx2"/>
                </a:solidFill>
              </a:rPr>
              <a:t>framework built around five core pillars of cyber resilience</a:t>
            </a:r>
          </a:p>
          <a:p>
            <a:r>
              <a:rPr lang="en-NG" dirty="0"/>
              <a:t>This model integrates </a:t>
            </a:r>
            <a:r>
              <a:rPr lang="en-NG" b="1" dirty="0"/>
              <a:t>cyber resilience thinking</a:t>
            </a:r>
            <a:r>
              <a:rPr lang="en-NG" dirty="0"/>
              <a:t> throughout the process </a:t>
            </a:r>
            <a:endParaRPr lang="en-NG" sz="1800" dirty="0">
              <a:solidFill>
                <a:schemeClr val="tx2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DBE463B-EB9B-5D07-BF59-BD5AD1250336}"/>
              </a:ext>
            </a:extLst>
          </p:cNvPr>
          <p:cNvGrpSpPr/>
          <p:nvPr/>
        </p:nvGrpSpPr>
        <p:grpSpPr>
          <a:xfrm>
            <a:off x="6803646" y="1128130"/>
            <a:ext cx="5210553" cy="5412370"/>
            <a:chOff x="0" y="0"/>
            <a:chExt cx="6172200" cy="60045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EE67A58-D0FB-9690-3013-9A4247191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5240" y="0"/>
              <a:ext cx="6156960" cy="57086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 Box 1">
              <a:extLst>
                <a:ext uri="{FF2B5EF4-FFF2-40B4-BE49-F238E27FC236}">
                  <a16:creationId xmlns:a16="http://schemas.microsoft.com/office/drawing/2014/main" id="{4595C64A-72C5-C40C-5BF2-713ABB77CA6A}"/>
                </a:ext>
              </a:extLst>
            </p:cNvPr>
            <p:cNvSpPr txBox="1"/>
            <p:nvPr/>
          </p:nvSpPr>
          <p:spPr>
            <a:xfrm>
              <a:off x="0" y="5737860"/>
              <a:ext cx="6156960" cy="266700"/>
            </a:xfrm>
            <a:prstGeom prst="rect">
              <a:avLst/>
            </a:prstGeom>
            <a:solidFill>
              <a:prstClr val="white"/>
            </a:solidFill>
            <a:ln>
              <a:noFill/>
            </a:ln>
          </p:spPr>
          <p:txBody>
            <a:bodyPr rot="0" spcFirstLastPara="0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defTabSz="694944">
                <a:spcAft>
                  <a:spcPts val="760"/>
                </a:spcAft>
              </a:pPr>
              <a:r>
                <a:rPr lang="en-NG" sz="684" i="1" u="sng" kern="100">
                  <a:solidFill>
                    <a:srgbClr val="0E2841"/>
                  </a:solidFill>
                  <a:latin typeface="Aptos" panose="020B0004020202020204" pitchFamily="34" charset="0"/>
                  <a:ea typeface="+mn-ea"/>
                  <a:cs typeface="Times New Roman" panose="02020603050405020304" pitchFamily="18" charset="0"/>
                </a:rPr>
                <a:t>Figure 4.2.1: CRF-NCS Model</a:t>
              </a:r>
              <a:endParaRPr lang="en-NG" sz="900" i="1" kern="100">
                <a:solidFill>
                  <a:srgbClr val="0E284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9647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8A03-322C-DFB4-8A32-7A516BAD3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G" b="1" dirty="0"/>
              <a:t>FRAMEWORK STRUCTURE</a:t>
            </a:r>
            <a:endParaRPr lang="en-NG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C14FC37-54F3-5897-5D3E-E25743562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5943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9796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1C6E1-A1C4-BC61-E37F-DCAEBA65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0813"/>
            <a:ext cx="10515600" cy="1325563"/>
          </a:xfrm>
        </p:spPr>
        <p:txBody>
          <a:bodyPr/>
          <a:lstStyle/>
          <a:p>
            <a:r>
              <a:rPr lang="en-NG" b="1"/>
              <a:t>FRAMEWORK STRUCTURE</a:t>
            </a:r>
            <a:endParaRPr lang="en-NG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F750BF0-15E0-2D21-A05D-B2DE90A5F02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257300"/>
          <a:ext cx="10691813" cy="52355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25041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AE39A61A-7BFA-64EF-E688-B8E836E760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1675" y="690054"/>
            <a:ext cx="5474323" cy="5474323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6A5A31-B10A-4793-84D4-D785959AE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5201" y="623275"/>
            <a:ext cx="5141626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766C9-A0CE-6470-1CD1-8D853891A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9832" y="2998278"/>
            <a:ext cx="4114773" cy="189376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NG" sz="4400" b="1" dirty="0"/>
          </a:p>
          <a:p>
            <a:pPr marL="0" indent="0">
              <a:buNone/>
            </a:pPr>
            <a:r>
              <a:rPr lang="en-NG" sz="44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9369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3698</TotalTime>
  <Words>1354</Words>
  <Application>Microsoft Macintosh PowerPoint</Application>
  <PresentationFormat>Widescreen</PresentationFormat>
  <Paragraphs>176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Governance, Risk and Compliance (GRC) Platform</vt:lpstr>
      <vt:lpstr>Presentation Agenda</vt:lpstr>
      <vt:lpstr>Overview of the NCF-CRF GRC Platform</vt:lpstr>
      <vt:lpstr>Key Success Criteria </vt:lpstr>
      <vt:lpstr>Key Functional Features of the GRC Platform</vt:lpstr>
      <vt:lpstr>Compliance &amp; Standards Alignment</vt:lpstr>
      <vt:lpstr>Risk Management</vt:lpstr>
      <vt:lpstr>Compliance Management</vt:lpstr>
      <vt:lpstr>Audit Management</vt:lpstr>
      <vt:lpstr>Third-Party Risk Management</vt:lpstr>
      <vt:lpstr>Incident &amp; Issue Management</vt:lpstr>
      <vt:lpstr>Policy Management</vt:lpstr>
      <vt:lpstr>Reporting &amp; Analytics</vt:lpstr>
      <vt:lpstr>NON FUNCTIONAL FEATURES</vt:lpstr>
      <vt:lpstr>Key Non Functional Features</vt:lpstr>
      <vt:lpstr>Key Non Functional Features</vt:lpstr>
      <vt:lpstr>Key Non Functional Features</vt:lpstr>
      <vt:lpstr>Integration &amp; Interoperability</vt:lpstr>
      <vt:lpstr>Wireframe Architecture</vt:lpstr>
      <vt:lpstr>Wireframe Architecture</vt:lpstr>
      <vt:lpstr>PowerPoint Presentation</vt:lpstr>
      <vt:lpstr>PowerPoint Presentation</vt:lpstr>
      <vt:lpstr>On-boarding Template</vt:lpstr>
      <vt:lpstr>PowerPoint Presentation</vt:lpstr>
      <vt:lpstr>PowerPoint Presentation</vt:lpstr>
      <vt:lpstr>PowerPoint Presentation</vt:lpstr>
      <vt:lpstr>Key Considerations</vt:lpstr>
      <vt:lpstr>Subscription Options</vt:lpstr>
      <vt:lpstr>Deliverables</vt:lpstr>
      <vt:lpstr>Implementation Issues</vt:lpstr>
      <vt:lpstr>Project Duration </vt:lpstr>
      <vt:lpstr>Highlight of the Framework</vt:lpstr>
      <vt:lpstr>FRAMEWORK MODEL </vt:lpstr>
      <vt:lpstr>FRAMEWORK STRUCTURE</vt:lpstr>
      <vt:lpstr>FRAMEWORK STRUCTURE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Kazeem DURODOYE PhD</dc:creator>
  <cp:lastModifiedBy>Kazeem DURODOYE PhD</cp:lastModifiedBy>
  <cp:revision>12</cp:revision>
  <dcterms:created xsi:type="dcterms:W3CDTF">2025-08-20T20:06:00Z</dcterms:created>
  <dcterms:modified xsi:type="dcterms:W3CDTF">2026-06-04T10:06:52Z</dcterms:modified>
</cp:coreProperties>
</file>